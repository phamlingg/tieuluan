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3416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6189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8639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9003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1637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8355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5BCAD085-E8A6-8845-BD4E-CB4CCA059FC4}" type="datetimeFigureOut">
              <a:rPr lang="en-US" smtClean="0"/>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7978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4345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21161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246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8987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853535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9243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17179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18713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52961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1452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5BCAD085-E8A6-8845-BD4E-CB4CCA059FC4}" type="datetimeFigureOut">
              <a:rPr lang="en-US" smtClean="0"/>
              <a:t>6/18/2026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6094759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1.png"/>
          <p:cNvPicPr>
            <a:picLocks noChangeAspect="1"/>
          </p:cNvPicPr>
          <p:nvPr/>
        </p:nvPicPr>
        <p:blipFill>
          <a:blip r:embed="rId2"/>
          <a:stretch>
            <a:fillRect/>
          </a:stretch>
        </p:blipFill>
        <p:spPr>
          <a:xfrm>
            <a:off x="5175504" y="365760"/>
            <a:ext cx="1828800" cy="1828800"/>
          </a:xfrm>
          <a:prstGeom prst="rect">
            <a:avLst/>
          </a:prstGeom>
        </p:spPr>
      </p:pic>
      <p:sp>
        <p:nvSpPr>
          <p:cNvPr id="4" name="TextBox 3"/>
          <p:cNvSpPr txBox="1"/>
          <p:nvPr/>
        </p:nvSpPr>
        <p:spPr>
          <a:xfrm>
            <a:off x="914400" y="2103120"/>
            <a:ext cx="10362895" cy="2946961"/>
          </a:xfrm>
          <a:prstGeom prst="rect">
            <a:avLst/>
          </a:prstGeom>
          <a:noFill/>
        </p:spPr>
        <p:txBody>
          <a:bodyPr wrap="square">
            <a:spAutoFit/>
          </a:bodyPr>
          <a:lstStyle/>
          <a:p>
            <a:pPr algn="ctr">
              <a:spcAft>
                <a:spcPts val="1500"/>
              </a:spcAft>
              <a:defRPr sz="1400" b="1">
                <a:solidFill>
                  <a:srgbClr val="2563EB"/>
                </a:solidFill>
                <a:latin typeface="Arial"/>
              </a:defRPr>
            </a:pPr>
            <a:r>
              <a:rPr dirty="0"/>
              <a:t>BÀI TẬP LỚN MÔN KHOA HỌC DỮ LIỆU</a:t>
            </a:r>
          </a:p>
          <a:p>
            <a:pPr algn="ctr">
              <a:spcAft>
                <a:spcPts val="1200"/>
              </a:spcAft>
              <a:defRPr sz="3600" b="1">
                <a:solidFill>
                  <a:srgbClr val="1E293B"/>
                </a:solidFill>
                <a:latin typeface="Arial"/>
              </a:defRPr>
            </a:pPr>
            <a:r>
              <a:rPr dirty="0"/>
              <a:t>PHÂN TÍCH VÀ DỰ ĐOÁN GIÁ NHÀ TẠI VIỆT NAM</a:t>
            </a:r>
          </a:p>
          <a:p>
            <a:pPr>
              <a:defRPr sz="1300" b="1">
                <a:solidFill>
                  <a:srgbClr val="7C3AED"/>
                </a:solidFill>
                <a:latin typeface="Arial"/>
              </a:defRPr>
            </a:pPr>
            <a:r>
              <a:rPr sz="1600" dirty="0"/>
              <a:t>GVHD: TS. </a:t>
            </a:r>
            <a:r>
              <a:rPr sz="1600" dirty="0" err="1"/>
              <a:t>Nguyễn</a:t>
            </a:r>
            <a:r>
              <a:rPr sz="1600" dirty="0"/>
              <a:t> Văn Huy   </a:t>
            </a:r>
            <a:endParaRPr lang="vi-VN" sz="1600" dirty="0"/>
          </a:p>
          <a:p>
            <a:pPr>
              <a:defRPr sz="1300" b="1">
                <a:solidFill>
                  <a:srgbClr val="7C3AED"/>
                </a:solidFill>
                <a:latin typeface="Arial"/>
              </a:defRPr>
            </a:pPr>
            <a:r>
              <a:rPr lang="vi-VN" sz="1600" dirty="0"/>
              <a:t>Họ Và Tên: Phạm Khắc Linh</a:t>
            </a:r>
          </a:p>
          <a:p>
            <a:pPr>
              <a:defRPr sz="1300" b="1">
                <a:solidFill>
                  <a:srgbClr val="7C3AED"/>
                </a:solidFill>
                <a:latin typeface="Arial"/>
              </a:defRPr>
            </a:pPr>
            <a:r>
              <a:rPr sz="1600" dirty="0" err="1"/>
              <a:t>Lớp</a:t>
            </a:r>
            <a:r>
              <a:rPr sz="1600" dirty="0"/>
              <a:t>: K58KTP </a:t>
            </a:r>
            <a:endParaRPr lang="vi-VN" sz="1600" dirty="0"/>
          </a:p>
          <a:p>
            <a:pPr>
              <a:defRPr sz="1300" b="1">
                <a:solidFill>
                  <a:srgbClr val="7C3AED"/>
                </a:solidFill>
                <a:latin typeface="Arial"/>
              </a:defRPr>
            </a:pPr>
            <a:r>
              <a:rPr sz="1600" dirty="0" err="1"/>
              <a:t>Ngành</a:t>
            </a:r>
            <a:r>
              <a:rPr sz="1600" dirty="0"/>
              <a:t>: </a:t>
            </a:r>
            <a:r>
              <a:rPr sz="1600" dirty="0" err="1"/>
              <a:t>Kỹ</a:t>
            </a:r>
            <a:r>
              <a:rPr sz="1600" dirty="0"/>
              <a:t> </a:t>
            </a:r>
            <a:r>
              <a:rPr sz="1600" dirty="0" err="1"/>
              <a:t>thuật</a:t>
            </a:r>
            <a:r>
              <a:rPr sz="1600" dirty="0"/>
              <a:t> </a:t>
            </a:r>
            <a:r>
              <a:rPr sz="1600" dirty="0" err="1"/>
              <a:t>máy</a:t>
            </a:r>
            <a:r>
              <a:rPr sz="1600" dirty="0"/>
              <a:t> </a:t>
            </a:r>
            <a:r>
              <a:rPr sz="1600" dirty="0" err="1"/>
              <a:t>tính</a:t>
            </a:r>
            <a:endParaRPr lang="vi-VN" sz="1600" dirty="0"/>
          </a:p>
          <a:p>
            <a:pPr>
              <a:defRPr sz="1300" b="1">
                <a:solidFill>
                  <a:srgbClr val="7C3AED"/>
                </a:solidFill>
                <a:latin typeface="Arial"/>
              </a:defRPr>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365760"/>
            <a:ext cx="10817352" cy="365760"/>
          </a:xfrm>
          <a:prstGeom prst="rect">
            <a:avLst/>
          </a:prstGeom>
          <a:noFill/>
        </p:spPr>
        <p:txBody>
          <a:bodyPr wrap="square">
            <a:spAutoFit/>
          </a:bodyPr>
          <a:lstStyle/>
          <a:p>
            <a:pPr>
              <a:defRPr sz="1000" b="1">
                <a:solidFill>
                  <a:srgbClr val="2563EB"/>
                </a:solidFill>
                <a:latin typeface="Arial"/>
              </a:defRPr>
            </a:pPr>
            <a:r>
              <a:t>CHƯƠNG 1. GIỚI THIỆU ĐỀ TÀI</a:t>
            </a:r>
          </a:p>
        </p:txBody>
      </p:sp>
      <p:sp>
        <p:nvSpPr>
          <p:cNvPr id="4" name="TextBox 3"/>
          <p:cNvSpPr txBox="1"/>
          <p:nvPr/>
        </p:nvSpPr>
        <p:spPr>
          <a:xfrm>
            <a:off x="685800" y="640080"/>
            <a:ext cx="10817352" cy="731520"/>
          </a:xfrm>
          <a:prstGeom prst="rect">
            <a:avLst/>
          </a:prstGeom>
          <a:noFill/>
        </p:spPr>
        <p:txBody>
          <a:bodyPr wrap="square">
            <a:spAutoFit/>
          </a:bodyPr>
          <a:lstStyle/>
          <a:p>
            <a:pPr>
              <a:defRPr sz="2800" b="1">
                <a:solidFill>
                  <a:srgbClr val="1E293B"/>
                </a:solidFill>
                <a:latin typeface="Arial"/>
              </a:defRPr>
            </a:pPr>
            <a:r>
              <a:t>1. Lời mở đầu &amp; Lý do chọn đề tài</a:t>
            </a:r>
          </a:p>
        </p:txBody>
      </p:sp>
      <p:sp>
        <p:nvSpPr>
          <p:cNvPr id="5" name="Rounded Rectangle 4"/>
          <p:cNvSpPr/>
          <p:nvPr/>
        </p:nvSpPr>
        <p:spPr>
          <a:xfrm>
            <a:off x="68580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868680" y="1828800"/>
            <a:ext cx="4754880" cy="2046714"/>
          </a:xfrm>
          <a:prstGeom prst="rect">
            <a:avLst/>
          </a:prstGeom>
          <a:noFill/>
        </p:spPr>
        <p:txBody>
          <a:bodyPr wrap="square">
            <a:spAutoFit/>
          </a:bodyPr>
          <a:lstStyle/>
          <a:p>
            <a:pPr>
              <a:spcAft>
                <a:spcPts val="1000"/>
              </a:spcAft>
              <a:defRPr sz="1600" b="1">
                <a:solidFill>
                  <a:srgbClr val="1E293B"/>
                </a:solidFill>
                <a:latin typeface="Arial"/>
              </a:defRPr>
            </a:pPr>
            <a:r>
              <a:rPr sz="1400"/>
              <a:t>Lý do chọn đề tài</a:t>
            </a:r>
          </a:p>
          <a:p>
            <a:pPr>
              <a:spcAft>
                <a:spcPts val="400"/>
              </a:spcAft>
              <a:defRPr sz="1100">
                <a:solidFill>
                  <a:srgbClr val="64748B"/>
                </a:solidFill>
                <a:latin typeface="Arial"/>
              </a:defRPr>
            </a:pPr>
            <a:r>
              <a:rPr sz="1400"/>
              <a:t>• Thị trường bất động sản Việt Nam biến động mạnh mẽ, khó định giá thực.</a:t>
            </a:r>
          </a:p>
          <a:p>
            <a:pPr>
              <a:spcAft>
                <a:spcPts val="400"/>
              </a:spcAft>
              <a:defRPr sz="1100">
                <a:solidFill>
                  <a:srgbClr val="64748B"/>
                </a:solidFill>
                <a:latin typeface="Arial"/>
              </a:defRPr>
            </a:pPr>
            <a:r>
              <a:rPr sz="1400"/>
              <a:t>• Khó khăn cho người mua, người bán và nhà đầu tư trong việc định giá khách quan.</a:t>
            </a:r>
          </a:p>
          <a:p>
            <a:pPr>
              <a:spcAft>
                <a:spcPts val="400"/>
              </a:spcAft>
              <a:defRPr sz="1100">
                <a:solidFill>
                  <a:srgbClr val="64748B"/>
                </a:solidFill>
                <a:latin typeface="Arial"/>
              </a:defRPr>
            </a:pPr>
            <a:r>
              <a:rPr sz="1400"/>
              <a:t>• Khoa học dữ liệu và Học máy (Machine Learning) mở ra cơ hội phân tích chuyên sâu, nâng cao độ chính xác định giá.</a:t>
            </a:r>
          </a:p>
        </p:txBody>
      </p:sp>
      <p:sp>
        <p:nvSpPr>
          <p:cNvPr id="7" name="Rounded Rectangle 6"/>
          <p:cNvSpPr/>
          <p:nvPr/>
        </p:nvSpPr>
        <p:spPr>
          <a:xfrm>
            <a:off x="6382512" y="1645920"/>
            <a:ext cx="5120640" cy="438912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6565392" y="1828800"/>
            <a:ext cx="4754880" cy="1831271"/>
          </a:xfrm>
          <a:prstGeom prst="rect">
            <a:avLst/>
          </a:prstGeom>
          <a:noFill/>
        </p:spPr>
        <p:txBody>
          <a:bodyPr wrap="square">
            <a:spAutoFit/>
          </a:bodyPr>
          <a:lstStyle/>
          <a:p>
            <a:pPr>
              <a:spcAft>
                <a:spcPts val="1000"/>
              </a:spcAft>
              <a:defRPr sz="1600" b="1">
                <a:solidFill>
                  <a:srgbClr val="2563EB"/>
                </a:solidFill>
                <a:latin typeface="Arial"/>
              </a:defRPr>
            </a:pPr>
            <a:r>
              <a:rPr sz="1400"/>
              <a:t>Mục tiêu đề tài</a:t>
            </a:r>
          </a:p>
          <a:p>
            <a:pPr>
              <a:spcAft>
                <a:spcPts val="400"/>
              </a:spcAft>
              <a:defRPr sz="1100">
                <a:solidFill>
                  <a:srgbClr val="1E293B"/>
                </a:solidFill>
                <a:latin typeface="Arial"/>
              </a:defRPr>
            </a:pPr>
            <a:r>
              <a:rPr sz="1400"/>
              <a:t>• Phân tích các yếu tố ảnh hưởng trực tiếp đến giá nhà tại Việt Nam.</a:t>
            </a:r>
          </a:p>
          <a:p>
            <a:pPr>
              <a:spcAft>
                <a:spcPts val="400"/>
              </a:spcAft>
              <a:defRPr sz="1100">
                <a:solidFill>
                  <a:srgbClr val="1E293B"/>
                </a:solidFill>
                <a:latin typeface="Arial"/>
              </a:defRPr>
            </a:pPr>
            <a:r>
              <a:rPr sz="1400"/>
              <a:t>• Xây dựng và đánh giá các mô hình Machine Learning phổ biến.</a:t>
            </a:r>
          </a:p>
          <a:p>
            <a:pPr>
              <a:spcAft>
                <a:spcPts val="400"/>
              </a:spcAft>
              <a:defRPr sz="1100">
                <a:solidFill>
                  <a:srgbClr val="1E293B"/>
                </a:solidFill>
                <a:latin typeface="Arial"/>
              </a:defRPr>
            </a:pPr>
            <a:r>
              <a:rPr sz="1400"/>
              <a:t>• Lựa chọn thuật toán tối ưu nhất để đưa ra công cụ dự đoán tin cậy.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365760"/>
            <a:ext cx="10817352" cy="365760"/>
          </a:xfrm>
          <a:prstGeom prst="rect">
            <a:avLst/>
          </a:prstGeom>
          <a:noFill/>
        </p:spPr>
        <p:txBody>
          <a:bodyPr wrap="square">
            <a:spAutoFit/>
          </a:bodyPr>
          <a:lstStyle/>
          <a:p>
            <a:pPr>
              <a:defRPr sz="1000" b="1">
                <a:solidFill>
                  <a:srgbClr val="2563EB"/>
                </a:solidFill>
                <a:latin typeface="Arial"/>
              </a:defRPr>
            </a:pPr>
            <a:r>
              <a:t>CHƯƠNG 1. GIỚI THIỆU ĐỀ TÀI</a:t>
            </a:r>
          </a:p>
        </p:txBody>
      </p:sp>
      <p:sp>
        <p:nvSpPr>
          <p:cNvPr id="4" name="TextBox 3"/>
          <p:cNvSpPr txBox="1"/>
          <p:nvPr/>
        </p:nvSpPr>
        <p:spPr>
          <a:xfrm>
            <a:off x="685800" y="640080"/>
            <a:ext cx="10817352" cy="731520"/>
          </a:xfrm>
          <a:prstGeom prst="rect">
            <a:avLst/>
          </a:prstGeom>
          <a:noFill/>
        </p:spPr>
        <p:txBody>
          <a:bodyPr wrap="square">
            <a:spAutoFit/>
          </a:bodyPr>
          <a:lstStyle/>
          <a:p>
            <a:pPr>
              <a:defRPr sz="2800" b="1">
                <a:solidFill>
                  <a:srgbClr val="1E293B"/>
                </a:solidFill>
                <a:latin typeface="Arial"/>
              </a:defRPr>
            </a:pPr>
            <a:r>
              <a:t>2. Đối tượng &amp; Phạm vi nghiên cứu</a:t>
            </a:r>
          </a:p>
        </p:txBody>
      </p:sp>
      <p:sp>
        <p:nvSpPr>
          <p:cNvPr id="5" name="Rounded Rectangle 4"/>
          <p:cNvSpPr/>
          <p:nvPr/>
        </p:nvSpPr>
        <p:spPr>
          <a:xfrm>
            <a:off x="68580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28800"/>
            <a:ext cx="2926080" cy="1595309"/>
          </a:xfrm>
          <a:prstGeom prst="rect">
            <a:avLst/>
          </a:prstGeom>
          <a:noFill/>
        </p:spPr>
        <p:txBody>
          <a:bodyPr wrap="square">
            <a:spAutoFit/>
          </a:bodyPr>
          <a:lstStyle/>
          <a:p>
            <a:pPr>
              <a:spcAft>
                <a:spcPts val="1000"/>
              </a:spcAft>
              <a:defRPr sz="1600" b="1">
                <a:solidFill>
                  <a:srgbClr val="1E293B"/>
                </a:solidFill>
                <a:latin typeface="Arial"/>
              </a:defRPr>
            </a:pPr>
            <a:r>
              <a:t>Đối tượng nghiên cứu</a:t>
            </a:r>
          </a:p>
          <a:p>
            <a:pPr>
              <a:spcAft>
                <a:spcPts val="400"/>
              </a:spcAft>
              <a:defRPr sz="1100">
                <a:solidFill>
                  <a:srgbClr val="64748B"/>
                </a:solidFill>
                <a:latin typeface="Arial"/>
              </a:defRPr>
            </a:pPr>
            <a:r>
              <a:rPr sz="1400"/>
              <a:t>• Dữ liệu giá nhà ở Việt Nam.</a:t>
            </a:r>
          </a:p>
          <a:p>
            <a:pPr>
              <a:spcAft>
                <a:spcPts val="400"/>
              </a:spcAft>
              <a:defRPr sz="1100">
                <a:solidFill>
                  <a:srgbClr val="64748B"/>
                </a:solidFill>
                <a:latin typeface="Arial"/>
              </a:defRPr>
            </a:pPr>
            <a:r>
              <a:rPr sz="1400"/>
              <a:t>• Các yếu tố ảnh hưởng: vị trí địa lý (quận, thành phố), diện tích, số phòng ngủ, số phòng vệ sinh, tình trạng pháp lý, hướng nhà.</a:t>
            </a:r>
          </a:p>
        </p:txBody>
      </p:sp>
      <p:sp>
        <p:nvSpPr>
          <p:cNvPr id="7" name="Rounded Rectangle 6"/>
          <p:cNvSpPr/>
          <p:nvPr/>
        </p:nvSpPr>
        <p:spPr>
          <a:xfrm>
            <a:off x="4443984"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26864" y="1828800"/>
            <a:ext cx="2926080" cy="2026196"/>
          </a:xfrm>
          <a:prstGeom prst="rect">
            <a:avLst/>
          </a:prstGeom>
          <a:noFill/>
        </p:spPr>
        <p:txBody>
          <a:bodyPr wrap="square">
            <a:spAutoFit/>
          </a:bodyPr>
          <a:lstStyle/>
          <a:p>
            <a:pPr>
              <a:spcAft>
                <a:spcPts val="1000"/>
              </a:spcAft>
              <a:defRPr sz="1600" b="1">
                <a:solidFill>
                  <a:srgbClr val="1E293B"/>
                </a:solidFill>
                <a:latin typeface="Arial"/>
              </a:defRPr>
            </a:pPr>
            <a:r>
              <a:t>Phạm vi &amp; Nguồn dữ liệu</a:t>
            </a:r>
          </a:p>
          <a:p>
            <a:pPr>
              <a:spcAft>
                <a:spcPts val="400"/>
              </a:spcAft>
              <a:defRPr sz="1100">
                <a:solidFill>
                  <a:srgbClr val="64748B"/>
                </a:solidFill>
                <a:latin typeface="Arial"/>
              </a:defRPr>
            </a:pPr>
            <a:r>
              <a:rPr sz="1400"/>
              <a:t>• Thu thập từ các nền tảng bất động sản trực tuyến lớn tại Việt Nam.</a:t>
            </a:r>
          </a:p>
          <a:p>
            <a:pPr>
              <a:spcAft>
                <a:spcPts val="400"/>
              </a:spcAft>
              <a:defRPr sz="1100">
                <a:solidFill>
                  <a:srgbClr val="64748B"/>
                </a:solidFill>
                <a:latin typeface="Arial"/>
              </a:defRPr>
            </a:pPr>
            <a:r>
              <a:rPr sz="1400"/>
              <a:t>• Tập trung vào dữ liệu tại các thành phố trọng điểm: Hà Nội, TP.HCM, Đà Nẵng, Hải Phòng, Cần Thơ.</a:t>
            </a:r>
          </a:p>
        </p:txBody>
      </p:sp>
      <p:sp>
        <p:nvSpPr>
          <p:cNvPr id="9" name="Rounded Rectangle 8"/>
          <p:cNvSpPr/>
          <p:nvPr/>
        </p:nvSpPr>
        <p:spPr>
          <a:xfrm>
            <a:off x="8211312"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94192" y="1828800"/>
            <a:ext cx="2926080" cy="2128788"/>
          </a:xfrm>
          <a:prstGeom prst="rect">
            <a:avLst/>
          </a:prstGeom>
          <a:noFill/>
        </p:spPr>
        <p:txBody>
          <a:bodyPr wrap="square">
            <a:spAutoFit/>
          </a:bodyPr>
          <a:lstStyle/>
          <a:p>
            <a:pPr>
              <a:spcAft>
                <a:spcPts val="1000"/>
              </a:spcAft>
              <a:defRPr sz="1600" b="1">
                <a:solidFill>
                  <a:srgbClr val="1E293B"/>
                </a:solidFill>
                <a:latin typeface="Arial"/>
              </a:defRPr>
            </a:pPr>
            <a:r>
              <a:t>Phương pháp nghiên cứu</a:t>
            </a:r>
          </a:p>
          <a:p>
            <a:pPr>
              <a:spcAft>
                <a:spcPts val="400"/>
              </a:spcAft>
              <a:defRPr sz="1100">
                <a:solidFill>
                  <a:srgbClr val="64748B"/>
                </a:solidFill>
                <a:latin typeface="Arial"/>
              </a:defRPr>
            </a:pPr>
            <a:r>
              <a:rPr sz="1400"/>
              <a:t>• Thu thập và làm sạch dữ liệu.</a:t>
            </a:r>
          </a:p>
          <a:p>
            <a:pPr>
              <a:spcAft>
                <a:spcPts val="400"/>
              </a:spcAft>
              <a:defRPr sz="1100">
                <a:solidFill>
                  <a:srgbClr val="64748B"/>
                </a:solidFill>
                <a:latin typeface="Arial"/>
              </a:defRPr>
            </a:pPr>
            <a:r>
              <a:rPr sz="1400"/>
              <a:t>• Trực quan hóa dữ liệu (EDA).</a:t>
            </a:r>
          </a:p>
          <a:p>
            <a:pPr>
              <a:spcAft>
                <a:spcPts val="400"/>
              </a:spcAft>
              <a:defRPr sz="1100">
                <a:solidFill>
                  <a:srgbClr val="64748B"/>
                </a:solidFill>
                <a:latin typeface="Arial"/>
              </a:defRPr>
            </a:pPr>
            <a:r>
              <a:rPr sz="1400"/>
              <a:t>• Áp dụng thuật toán Machine Learning hồi quy (Regression).</a:t>
            </a:r>
          </a:p>
          <a:p>
            <a:pPr>
              <a:spcAft>
                <a:spcPts val="400"/>
              </a:spcAft>
              <a:defRPr sz="1100">
                <a:solidFill>
                  <a:srgbClr val="64748B"/>
                </a:solidFill>
                <a:latin typeface="Arial"/>
              </a:defRPr>
            </a:pPr>
            <a:r>
              <a:rPr sz="1400"/>
              <a:t>• Đánh giá và so sánh mô hình dựa trên độ chính xác thực nghiệm.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365760"/>
            <a:ext cx="10817352" cy="365760"/>
          </a:xfrm>
          <a:prstGeom prst="rect">
            <a:avLst/>
          </a:prstGeom>
          <a:noFill/>
        </p:spPr>
        <p:txBody>
          <a:bodyPr wrap="square">
            <a:spAutoFit/>
          </a:bodyPr>
          <a:lstStyle/>
          <a:p>
            <a:pPr>
              <a:defRPr sz="1000" b="1">
                <a:solidFill>
                  <a:srgbClr val="2563EB"/>
                </a:solidFill>
                <a:latin typeface="Arial"/>
              </a:defRPr>
            </a:pPr>
            <a:r>
              <a:t>CHƯƠNG 2. CƠ SỞ LÝ THUYẾT</a:t>
            </a:r>
          </a:p>
        </p:txBody>
      </p:sp>
      <p:sp>
        <p:nvSpPr>
          <p:cNvPr id="4" name="TextBox 3"/>
          <p:cNvSpPr txBox="1"/>
          <p:nvPr/>
        </p:nvSpPr>
        <p:spPr>
          <a:xfrm>
            <a:off x="685800" y="640080"/>
            <a:ext cx="10817352" cy="731520"/>
          </a:xfrm>
          <a:prstGeom prst="rect">
            <a:avLst/>
          </a:prstGeom>
          <a:noFill/>
        </p:spPr>
        <p:txBody>
          <a:bodyPr wrap="square">
            <a:spAutoFit/>
          </a:bodyPr>
          <a:lstStyle/>
          <a:p>
            <a:pPr>
              <a:defRPr sz="2800" b="1">
                <a:solidFill>
                  <a:srgbClr val="1E293B"/>
                </a:solidFill>
                <a:latin typeface="Arial"/>
              </a:defRPr>
            </a:pPr>
            <a:r>
              <a:t>3. Cơ sở lý thuyết &amp; Tổng quan</a:t>
            </a:r>
          </a:p>
        </p:txBody>
      </p:sp>
      <p:sp>
        <p:nvSpPr>
          <p:cNvPr id="5" name="Rounded Rectangle 4"/>
          <p:cNvSpPr/>
          <p:nvPr/>
        </p:nvSpPr>
        <p:spPr>
          <a:xfrm>
            <a:off x="68580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28800"/>
            <a:ext cx="4754880" cy="1615827"/>
          </a:xfrm>
          <a:prstGeom prst="rect">
            <a:avLst/>
          </a:prstGeom>
          <a:noFill/>
        </p:spPr>
        <p:txBody>
          <a:bodyPr wrap="square">
            <a:spAutoFit/>
          </a:bodyPr>
          <a:lstStyle/>
          <a:p>
            <a:pPr>
              <a:spcAft>
                <a:spcPts val="1000"/>
              </a:spcAft>
              <a:defRPr sz="1600" b="1">
                <a:solidFill>
                  <a:srgbClr val="1E293B"/>
                </a:solidFill>
                <a:latin typeface="Arial"/>
              </a:defRPr>
            </a:pPr>
            <a:r>
              <a:rPr sz="1400"/>
              <a:t>Tổng quan thị trường BĐS</a:t>
            </a:r>
          </a:p>
          <a:p>
            <a:pPr>
              <a:spcAft>
                <a:spcPts val="400"/>
              </a:spcAft>
              <a:defRPr sz="1100">
                <a:solidFill>
                  <a:srgbClr val="64748B"/>
                </a:solidFill>
                <a:latin typeface="Arial"/>
              </a:defRPr>
            </a:pPr>
            <a:r>
              <a:rPr sz="1400"/>
              <a:t>• Đóng vai trò then chốt trong nền kinh tế quốc gia.</a:t>
            </a:r>
          </a:p>
          <a:p>
            <a:pPr>
              <a:spcAft>
                <a:spcPts val="400"/>
              </a:spcAft>
              <a:defRPr sz="1100">
                <a:solidFill>
                  <a:srgbClr val="64748B"/>
                </a:solidFill>
                <a:latin typeface="Arial"/>
              </a:defRPr>
            </a:pPr>
            <a:r>
              <a:rPr sz="1400"/>
              <a:t>• Giá nhà biến động liên tục theo quy hoạch hạ tầng, tốc độ đô thị hóa và cung cầu.</a:t>
            </a:r>
          </a:p>
          <a:p>
            <a:pPr>
              <a:spcAft>
                <a:spcPts val="400"/>
              </a:spcAft>
              <a:defRPr sz="1100">
                <a:solidFill>
                  <a:srgbClr val="64748B"/>
                </a:solidFill>
                <a:latin typeface="Arial"/>
              </a:defRPr>
            </a:pPr>
            <a:r>
              <a:rPr sz="1400"/>
              <a:t>• Hệ thống định giá Hedonic: Giá nhà được cấu thành từ giá trị của các đặc trưng nội tại và ngoại cảnh.</a:t>
            </a:r>
          </a:p>
        </p:txBody>
      </p:sp>
      <p:sp>
        <p:nvSpPr>
          <p:cNvPr id="7" name="Rounded Rectangle 6"/>
          <p:cNvSpPr/>
          <p:nvPr/>
        </p:nvSpPr>
        <p:spPr>
          <a:xfrm>
            <a:off x="6382512"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65392" y="1828800"/>
            <a:ext cx="4754880" cy="1831271"/>
          </a:xfrm>
          <a:prstGeom prst="rect">
            <a:avLst/>
          </a:prstGeom>
          <a:noFill/>
        </p:spPr>
        <p:txBody>
          <a:bodyPr wrap="square">
            <a:spAutoFit/>
          </a:bodyPr>
          <a:lstStyle/>
          <a:p>
            <a:pPr>
              <a:spcAft>
                <a:spcPts val="1000"/>
              </a:spcAft>
              <a:defRPr sz="1600" b="1">
                <a:solidFill>
                  <a:srgbClr val="1E293B"/>
                </a:solidFill>
                <a:latin typeface="Arial"/>
              </a:defRPr>
            </a:pPr>
            <a:r>
              <a:rPr sz="1400"/>
              <a:t>Bài toán dự đoán giá nhà</a:t>
            </a:r>
          </a:p>
          <a:p>
            <a:pPr>
              <a:spcAft>
                <a:spcPts val="400"/>
              </a:spcAft>
              <a:defRPr sz="1100">
                <a:solidFill>
                  <a:srgbClr val="64748B"/>
                </a:solidFill>
                <a:latin typeface="Arial"/>
              </a:defRPr>
            </a:pPr>
            <a:r>
              <a:rPr sz="1400"/>
              <a:t>• Tiếp cận dưới dạng bài toán Hồi quy (Regression) trong Học máy.</a:t>
            </a:r>
          </a:p>
          <a:p>
            <a:pPr>
              <a:spcAft>
                <a:spcPts val="400"/>
              </a:spcAft>
              <a:defRPr sz="1100">
                <a:solidFill>
                  <a:srgbClr val="64748B"/>
                </a:solidFill>
                <a:latin typeface="Arial"/>
              </a:defRPr>
            </a:pPr>
            <a:r>
              <a:rPr sz="1400"/>
              <a:t>• Mục tiêu: Dự đoán giá trị liên tục (Tổng giá nhà) dựa trên các biến đặc trưng đầu vào.</a:t>
            </a:r>
          </a:p>
          <a:p>
            <a:pPr>
              <a:spcAft>
                <a:spcPts val="400"/>
              </a:spcAft>
              <a:defRPr sz="1100">
                <a:solidFill>
                  <a:srgbClr val="64748B"/>
                </a:solidFill>
                <a:latin typeface="Arial"/>
              </a:defRPr>
            </a:pPr>
            <a:r>
              <a:rPr sz="1400"/>
              <a:t>• Khoa học dữ liệu giúp khai phá tri thức từ dữ liệu lịch sử để định giá tương lai.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365760"/>
            <a:ext cx="10817352" cy="365760"/>
          </a:xfrm>
          <a:prstGeom prst="rect">
            <a:avLst/>
          </a:prstGeom>
          <a:noFill/>
        </p:spPr>
        <p:txBody>
          <a:bodyPr wrap="square">
            <a:spAutoFit/>
          </a:bodyPr>
          <a:lstStyle/>
          <a:p>
            <a:pPr>
              <a:defRPr sz="1000" b="1">
                <a:solidFill>
                  <a:srgbClr val="2563EB"/>
                </a:solidFill>
                <a:latin typeface="Arial"/>
              </a:defRPr>
            </a:pPr>
            <a:r>
              <a:t>CHƯƠNG 2. CƠ SỞ LÝ THUYẾT</a:t>
            </a:r>
          </a:p>
        </p:txBody>
      </p:sp>
      <p:sp>
        <p:nvSpPr>
          <p:cNvPr id="4" name="TextBox 3"/>
          <p:cNvSpPr txBox="1"/>
          <p:nvPr/>
        </p:nvSpPr>
        <p:spPr>
          <a:xfrm>
            <a:off x="685800" y="640080"/>
            <a:ext cx="10817352" cy="731520"/>
          </a:xfrm>
          <a:prstGeom prst="rect">
            <a:avLst/>
          </a:prstGeom>
          <a:noFill/>
        </p:spPr>
        <p:txBody>
          <a:bodyPr wrap="square">
            <a:spAutoFit/>
          </a:bodyPr>
          <a:lstStyle/>
          <a:p>
            <a:pPr>
              <a:defRPr sz="2800" b="1">
                <a:solidFill>
                  <a:srgbClr val="1E293B"/>
                </a:solidFill>
                <a:latin typeface="Arial"/>
              </a:defRPr>
            </a:pPr>
            <a:r>
              <a:t>4. Các thuật toán Machine Learning hồi quy</a:t>
            </a:r>
          </a:p>
        </p:txBody>
      </p:sp>
      <p:sp>
        <p:nvSpPr>
          <p:cNvPr id="5" name="Rounded Rectangle 4"/>
          <p:cNvSpPr/>
          <p:nvPr/>
        </p:nvSpPr>
        <p:spPr>
          <a:xfrm>
            <a:off x="68580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28800"/>
            <a:ext cx="2926080" cy="2077492"/>
          </a:xfrm>
          <a:prstGeom prst="rect">
            <a:avLst/>
          </a:prstGeom>
          <a:noFill/>
        </p:spPr>
        <p:txBody>
          <a:bodyPr wrap="square">
            <a:spAutoFit/>
          </a:bodyPr>
          <a:lstStyle/>
          <a:p>
            <a:pPr>
              <a:spcAft>
                <a:spcPts val="1000"/>
              </a:spcAft>
              <a:defRPr sz="1600" b="1">
                <a:solidFill>
                  <a:srgbClr val="1E293B"/>
                </a:solidFill>
                <a:latin typeface="Arial"/>
              </a:defRPr>
            </a:pPr>
            <a:r>
              <a:t>Linear Regression</a:t>
            </a:r>
          </a:p>
          <a:p>
            <a:pPr>
              <a:spcAft>
                <a:spcPts val="400"/>
              </a:spcAft>
              <a:defRPr sz="1100">
                <a:solidFill>
                  <a:srgbClr val="64748B"/>
                </a:solidFill>
                <a:latin typeface="Arial"/>
              </a:defRPr>
            </a:pPr>
            <a:r>
              <a:rPr sz="1400"/>
              <a:t>• Thuật toán đơn giản và phổ biến nhất.</a:t>
            </a:r>
          </a:p>
          <a:p>
            <a:pPr>
              <a:spcAft>
                <a:spcPts val="400"/>
              </a:spcAft>
              <a:defRPr sz="1100">
                <a:solidFill>
                  <a:srgbClr val="64748B"/>
                </a:solidFill>
                <a:latin typeface="Arial"/>
              </a:defRPr>
            </a:pPr>
            <a:r>
              <a:rPr sz="1400"/>
              <a:t>• Thiết lập mối quan hệ tuyến tính giữa các biến đầu vào và giá nhà.</a:t>
            </a:r>
          </a:p>
          <a:p>
            <a:pPr>
              <a:spcAft>
                <a:spcPts val="400"/>
              </a:spcAft>
              <a:defRPr sz="1100">
                <a:solidFill>
                  <a:srgbClr val="64748B"/>
                </a:solidFill>
                <a:latin typeface="Arial"/>
              </a:defRPr>
            </a:pPr>
            <a:r>
              <a:rPr sz="1400"/>
              <a:t>• Dễ giải thích và tốc độ tính toán nhanh nhưng kém hiệu quả nếu dữ liệu phi tuyến.</a:t>
            </a:r>
          </a:p>
        </p:txBody>
      </p:sp>
      <p:sp>
        <p:nvSpPr>
          <p:cNvPr id="7" name="Rounded Rectangle 6"/>
          <p:cNvSpPr/>
          <p:nvPr/>
        </p:nvSpPr>
        <p:spPr>
          <a:xfrm>
            <a:off x="4443984"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26864" y="1828800"/>
            <a:ext cx="2926080" cy="2292935"/>
          </a:xfrm>
          <a:prstGeom prst="rect">
            <a:avLst/>
          </a:prstGeom>
          <a:noFill/>
        </p:spPr>
        <p:txBody>
          <a:bodyPr wrap="square">
            <a:spAutoFit/>
          </a:bodyPr>
          <a:lstStyle/>
          <a:p>
            <a:pPr>
              <a:spcAft>
                <a:spcPts val="1000"/>
              </a:spcAft>
              <a:defRPr sz="1600" b="1">
                <a:solidFill>
                  <a:srgbClr val="1E293B"/>
                </a:solidFill>
                <a:latin typeface="Arial"/>
              </a:defRPr>
            </a:pPr>
            <a:r>
              <a:t>Decision Tree Regression</a:t>
            </a:r>
          </a:p>
          <a:p>
            <a:pPr>
              <a:spcAft>
                <a:spcPts val="400"/>
              </a:spcAft>
              <a:defRPr sz="1100">
                <a:solidFill>
                  <a:srgbClr val="64748B"/>
                </a:solidFill>
                <a:latin typeface="Arial"/>
              </a:defRPr>
            </a:pPr>
            <a:r>
              <a:rPr sz="1400"/>
              <a:t>• Cây quyết định chia nhỏ dữ liệu thành các nhánh logic.</a:t>
            </a:r>
          </a:p>
          <a:p>
            <a:pPr>
              <a:spcAft>
                <a:spcPts val="400"/>
              </a:spcAft>
              <a:defRPr sz="1100">
                <a:solidFill>
                  <a:srgbClr val="64748B"/>
                </a:solidFill>
                <a:latin typeface="Arial"/>
              </a:defRPr>
            </a:pPr>
            <a:r>
              <a:rPr sz="1400"/>
              <a:t>• Có khả năng biểu diễn và nắm bắt các mối quan hệ phi tuyến phức tạp.</a:t>
            </a:r>
          </a:p>
          <a:p>
            <a:pPr>
              <a:spcAft>
                <a:spcPts val="400"/>
              </a:spcAft>
              <a:defRPr sz="1100">
                <a:solidFill>
                  <a:srgbClr val="64748B"/>
                </a:solidFill>
                <a:latin typeface="Arial"/>
              </a:defRPr>
            </a:pPr>
            <a:r>
              <a:rPr sz="1400"/>
              <a:t>• Dễ hiểu, dễ trực quan hóa nhưng có rủi ro quá khớp (Overfitting) cao.</a:t>
            </a:r>
          </a:p>
        </p:txBody>
      </p:sp>
      <p:sp>
        <p:nvSpPr>
          <p:cNvPr id="9" name="Rounded Rectangle 8"/>
          <p:cNvSpPr/>
          <p:nvPr/>
        </p:nvSpPr>
        <p:spPr>
          <a:xfrm>
            <a:off x="8211312"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94192" y="1828800"/>
            <a:ext cx="2926080" cy="2292935"/>
          </a:xfrm>
          <a:prstGeom prst="rect">
            <a:avLst/>
          </a:prstGeom>
          <a:noFill/>
        </p:spPr>
        <p:txBody>
          <a:bodyPr wrap="square">
            <a:spAutoFit/>
          </a:bodyPr>
          <a:lstStyle/>
          <a:p>
            <a:pPr>
              <a:spcAft>
                <a:spcPts val="1000"/>
              </a:spcAft>
              <a:defRPr sz="1600" b="1">
                <a:solidFill>
                  <a:srgbClr val="1E293B"/>
                </a:solidFill>
                <a:latin typeface="Arial"/>
              </a:defRPr>
            </a:pPr>
            <a:r>
              <a:t>Random Forest Regression</a:t>
            </a:r>
          </a:p>
          <a:p>
            <a:pPr>
              <a:spcAft>
                <a:spcPts val="400"/>
              </a:spcAft>
              <a:defRPr sz="1100">
                <a:solidFill>
                  <a:srgbClr val="64748B"/>
                </a:solidFill>
                <a:latin typeface="Arial"/>
              </a:defRPr>
            </a:pPr>
            <a:r>
              <a:rPr sz="1400"/>
              <a:t>• Thuật toán Ensemble kết hợp dự đoán từ nhiều cây quyết định độc lập.</a:t>
            </a:r>
          </a:p>
          <a:p>
            <a:pPr>
              <a:spcAft>
                <a:spcPts val="400"/>
              </a:spcAft>
              <a:defRPr sz="1100">
                <a:solidFill>
                  <a:srgbClr val="64748B"/>
                </a:solidFill>
                <a:latin typeface="Arial"/>
              </a:defRPr>
            </a:pPr>
            <a:r>
              <a:rPr sz="1400"/>
              <a:t>• Giúp tăng độ chính xác và giảm thiểu hiện tượng overfitting rất hiệu quả.</a:t>
            </a:r>
          </a:p>
          <a:p>
            <a:pPr>
              <a:spcAft>
                <a:spcPts val="400"/>
              </a:spcAft>
              <a:defRPr sz="1100">
                <a:solidFill>
                  <a:srgbClr val="64748B"/>
                </a:solidFill>
                <a:latin typeface="Arial"/>
              </a:defRPr>
            </a:pPr>
            <a:r>
              <a:rPr sz="1400"/>
              <a:t>• Phù hợp nhất cho bài toán bất động sản đa yếu tố biến động.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365760"/>
            <a:ext cx="10817352" cy="365760"/>
          </a:xfrm>
          <a:prstGeom prst="rect">
            <a:avLst/>
          </a:prstGeom>
          <a:noFill/>
        </p:spPr>
        <p:txBody>
          <a:bodyPr wrap="square">
            <a:spAutoFit/>
          </a:bodyPr>
          <a:lstStyle/>
          <a:p>
            <a:pPr>
              <a:defRPr sz="1000" b="1">
                <a:solidFill>
                  <a:srgbClr val="2563EB"/>
                </a:solidFill>
                <a:latin typeface="Arial"/>
              </a:defRPr>
            </a:pPr>
            <a:r>
              <a:t>CHƯƠNG 3. THU THẬP &amp; TIỀN XỬ LÝ</a:t>
            </a:r>
          </a:p>
        </p:txBody>
      </p:sp>
      <p:sp>
        <p:nvSpPr>
          <p:cNvPr id="4" name="TextBox 3"/>
          <p:cNvSpPr txBox="1"/>
          <p:nvPr/>
        </p:nvSpPr>
        <p:spPr>
          <a:xfrm>
            <a:off x="685800" y="640080"/>
            <a:ext cx="10817352" cy="731520"/>
          </a:xfrm>
          <a:prstGeom prst="rect">
            <a:avLst/>
          </a:prstGeom>
          <a:noFill/>
        </p:spPr>
        <p:txBody>
          <a:bodyPr wrap="square">
            <a:spAutoFit/>
          </a:bodyPr>
          <a:lstStyle/>
          <a:p>
            <a:pPr>
              <a:defRPr sz="2800" b="1">
                <a:solidFill>
                  <a:srgbClr val="1E293B"/>
                </a:solidFill>
                <a:latin typeface="Arial"/>
              </a:defRPr>
            </a:pPr>
            <a:r>
              <a:t>5. Thu thập &amp; Tiền xử lý dữ liệu</a:t>
            </a:r>
          </a:p>
        </p:txBody>
      </p:sp>
      <p:sp>
        <p:nvSpPr>
          <p:cNvPr id="5" name="Rounded Rectangle 4"/>
          <p:cNvSpPr/>
          <p:nvPr/>
        </p:nvSpPr>
        <p:spPr>
          <a:xfrm>
            <a:off x="68580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868680" y="1828800"/>
            <a:ext cx="4754880" cy="2826415"/>
          </a:xfrm>
          <a:prstGeom prst="rect">
            <a:avLst/>
          </a:prstGeom>
          <a:noFill/>
        </p:spPr>
        <p:txBody>
          <a:bodyPr wrap="square">
            <a:spAutoFit/>
          </a:bodyPr>
          <a:lstStyle/>
          <a:p>
            <a:pPr>
              <a:spcAft>
                <a:spcPts val="1000"/>
              </a:spcAft>
              <a:defRPr sz="1600" b="1">
                <a:solidFill>
                  <a:srgbClr val="1E293B"/>
                </a:solidFill>
                <a:latin typeface="Arial"/>
              </a:defRPr>
            </a:pPr>
            <a:r>
              <a:t>Mô tả bộ dữ liệu &amp; Xử lý số liệu</a:t>
            </a:r>
          </a:p>
          <a:p>
            <a:pPr>
              <a:spcAft>
                <a:spcPts val="400"/>
              </a:spcAft>
              <a:defRPr sz="1100">
                <a:solidFill>
                  <a:srgbClr val="64748B"/>
                </a:solidFill>
                <a:latin typeface="Arial"/>
              </a:defRPr>
            </a:pPr>
            <a:r>
              <a:rPr sz="1400"/>
              <a:t>• Diện tích dao động rộng từ 25.0 m² đến 349.7 m² (Trung bình: 186.2 m²).</a:t>
            </a:r>
          </a:p>
          <a:p>
            <a:pPr>
              <a:spcAft>
                <a:spcPts val="400"/>
              </a:spcAft>
              <a:defRPr sz="1100">
                <a:solidFill>
                  <a:srgbClr val="64748B"/>
                </a:solidFill>
                <a:latin typeface="Arial"/>
              </a:defRPr>
            </a:pPr>
            <a:r>
              <a:rPr sz="1400"/>
              <a:t>• Giá nhà dao động lớn từ 549 triệu đến 127.05 tỷ VNĐ (Trung bình: 21.2 tỷ VNĐ).</a:t>
            </a:r>
          </a:p>
          <a:p>
            <a:pPr>
              <a:spcAft>
                <a:spcPts val="400"/>
              </a:spcAft>
              <a:defRPr sz="1100">
                <a:solidFill>
                  <a:srgbClr val="64748B"/>
                </a:solidFill>
                <a:latin typeface="Arial"/>
              </a:defRPr>
            </a:pPr>
            <a:r>
              <a:rPr sz="1400"/>
              <a:t>• Làm sạch: Loại bỏ trùng lặp, xử lý các giá trị khuyết thiếu (Missing data).</a:t>
            </a:r>
          </a:p>
          <a:p>
            <a:pPr>
              <a:spcAft>
                <a:spcPts val="400"/>
              </a:spcAft>
              <a:defRPr sz="1100">
                <a:solidFill>
                  <a:srgbClr val="64748B"/>
                </a:solidFill>
                <a:latin typeface="Arial"/>
              </a:defRPr>
            </a:pPr>
            <a:r>
              <a:rPr sz="1400"/>
              <a:t>• Lọc ngoại lai (Outliers): Loại bỏ các bản ghi có giá trị bất thường.</a:t>
            </a:r>
          </a:p>
          <a:p>
            <a:pPr>
              <a:spcAft>
                <a:spcPts val="400"/>
              </a:spcAft>
              <a:defRPr sz="1100">
                <a:solidFill>
                  <a:srgbClr val="64748B"/>
                </a:solidFill>
                <a:latin typeface="Arial"/>
              </a:defRPr>
            </a:pPr>
            <a:r>
              <a:rPr sz="1400"/>
              <a:t>• Chuẩn hóa: Mã hóa One-Hot cho phân loại và co giãn StandardScaler cho biến số.</a:t>
            </a:r>
          </a:p>
        </p:txBody>
      </p:sp>
      <p:pic>
        <p:nvPicPr>
          <p:cNvPr id="7" name="Picture 6" descr="image2.png"/>
          <p:cNvPicPr>
            <a:picLocks noChangeAspect="1"/>
          </p:cNvPicPr>
          <p:nvPr/>
        </p:nvPicPr>
        <p:blipFill>
          <a:blip r:embed="rId2"/>
          <a:stretch>
            <a:fillRect/>
          </a:stretch>
        </p:blipFill>
        <p:spPr>
          <a:xfrm>
            <a:off x="6382512" y="1645920"/>
            <a:ext cx="5120640" cy="43891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365760"/>
            <a:ext cx="10817352" cy="365760"/>
          </a:xfrm>
          <a:prstGeom prst="rect">
            <a:avLst/>
          </a:prstGeom>
          <a:noFill/>
        </p:spPr>
        <p:txBody>
          <a:bodyPr wrap="square">
            <a:spAutoFit/>
          </a:bodyPr>
          <a:lstStyle/>
          <a:p>
            <a:pPr>
              <a:defRPr sz="1000" b="1">
                <a:solidFill>
                  <a:srgbClr val="2563EB"/>
                </a:solidFill>
                <a:latin typeface="Arial"/>
              </a:defRPr>
            </a:pPr>
            <a:r>
              <a:t>CHƯƠNG 3. THU THẬP &amp; TIỀN XỬ LÝ</a:t>
            </a:r>
          </a:p>
        </p:txBody>
      </p:sp>
      <p:sp>
        <p:nvSpPr>
          <p:cNvPr id="4" name="TextBox 3"/>
          <p:cNvSpPr txBox="1"/>
          <p:nvPr/>
        </p:nvSpPr>
        <p:spPr>
          <a:xfrm>
            <a:off x="685800" y="640080"/>
            <a:ext cx="10817352" cy="731520"/>
          </a:xfrm>
          <a:prstGeom prst="rect">
            <a:avLst/>
          </a:prstGeom>
          <a:noFill/>
        </p:spPr>
        <p:txBody>
          <a:bodyPr wrap="square">
            <a:spAutoFit/>
          </a:bodyPr>
          <a:lstStyle/>
          <a:p>
            <a:pPr>
              <a:defRPr sz="2800" b="1">
                <a:solidFill>
                  <a:srgbClr val="1E293B"/>
                </a:solidFill>
                <a:latin typeface="Arial"/>
              </a:defRPr>
            </a:pPr>
            <a:r>
              <a:t>6. Trực quan hóa dữ liệu (EDA)</a:t>
            </a:r>
          </a:p>
        </p:txBody>
      </p:sp>
      <p:sp>
        <p:nvSpPr>
          <p:cNvPr id="5" name="Rounded Rectangle 4"/>
          <p:cNvSpPr/>
          <p:nvPr/>
        </p:nvSpPr>
        <p:spPr>
          <a:xfrm>
            <a:off x="685800" y="1645920"/>
            <a:ext cx="512064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868680" y="1828800"/>
            <a:ext cx="4754880" cy="1862048"/>
          </a:xfrm>
          <a:prstGeom prst="rect">
            <a:avLst/>
          </a:prstGeom>
          <a:noFill/>
        </p:spPr>
        <p:txBody>
          <a:bodyPr wrap="square">
            <a:spAutoFit/>
          </a:bodyPr>
          <a:lstStyle/>
          <a:p>
            <a:pPr>
              <a:spcAft>
                <a:spcPts val="1000"/>
              </a:spcAft>
              <a:defRPr sz="1600" b="1">
                <a:solidFill>
                  <a:srgbClr val="1E293B"/>
                </a:solidFill>
                <a:latin typeface="Arial"/>
              </a:defRPr>
            </a:pPr>
            <a:r>
              <a:t>Phân bố các đặc trưng mẫu</a:t>
            </a:r>
          </a:p>
          <a:p>
            <a:pPr>
              <a:spcAft>
                <a:spcPts val="400"/>
              </a:spcAft>
              <a:defRPr sz="1100">
                <a:solidFill>
                  <a:srgbClr val="64748B"/>
                </a:solidFill>
                <a:latin typeface="Arial"/>
              </a:defRPr>
            </a:pPr>
            <a:r>
              <a:rPr sz="1400"/>
              <a:t>• Thành phố: Hà Nội và TP.HCM chiếm tỷ trọng mẫu lớn nhất (khoảng 35% mỗi thành phố).</a:t>
            </a:r>
          </a:p>
          <a:p>
            <a:pPr>
              <a:spcAft>
                <a:spcPts val="400"/>
              </a:spcAft>
              <a:defRPr sz="1100">
                <a:solidFill>
                  <a:srgbClr val="64748B"/>
                </a:solidFill>
                <a:latin typeface="Arial"/>
              </a:defRPr>
            </a:pPr>
            <a:r>
              <a:rPr sz="1400"/>
              <a:t>• Số phòng ngủ: Phổ biến nhất là loại hình nhà có 3 phòng ngủ (chiếm 40% mẫu).</a:t>
            </a:r>
          </a:p>
          <a:p>
            <a:pPr>
              <a:spcAft>
                <a:spcPts val="400"/>
              </a:spcAft>
              <a:defRPr sz="1100">
                <a:solidFill>
                  <a:srgbClr val="64748B"/>
                </a:solidFill>
                <a:latin typeface="Arial"/>
              </a:defRPr>
            </a:pPr>
            <a:r>
              <a:rPr sz="1400"/>
              <a:t>• Pháp lý: Sổ đỏ / Sổ hồng chiếm đa số với 65% tổng số mẫu dữ liệu.</a:t>
            </a:r>
          </a:p>
        </p:txBody>
      </p:sp>
      <p:sp>
        <p:nvSpPr>
          <p:cNvPr id="7" name="Rounded Rectangle 6"/>
          <p:cNvSpPr/>
          <p:nvPr/>
        </p:nvSpPr>
        <p:spPr>
          <a:xfrm>
            <a:off x="685800" y="384048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868680" y="4023360"/>
            <a:ext cx="4754880" cy="1862048"/>
          </a:xfrm>
          <a:prstGeom prst="rect">
            <a:avLst/>
          </a:prstGeom>
          <a:noFill/>
        </p:spPr>
        <p:txBody>
          <a:bodyPr wrap="square">
            <a:spAutoFit/>
          </a:bodyPr>
          <a:lstStyle/>
          <a:p>
            <a:pPr>
              <a:spcAft>
                <a:spcPts val="1000"/>
              </a:spcAft>
              <a:defRPr sz="1600" b="1">
                <a:solidFill>
                  <a:srgbClr val="1E293B"/>
                </a:solidFill>
                <a:latin typeface="Arial"/>
              </a:defRPr>
            </a:pPr>
            <a:r>
              <a:t>Đặc điểm phân phối hình học</a:t>
            </a:r>
          </a:p>
          <a:p>
            <a:pPr>
              <a:spcAft>
                <a:spcPts val="400"/>
              </a:spcAft>
              <a:defRPr sz="1100">
                <a:solidFill>
                  <a:srgbClr val="64748B"/>
                </a:solidFill>
                <a:latin typeface="Arial"/>
              </a:defRPr>
            </a:pPr>
            <a:r>
              <a:rPr sz="1400"/>
              <a:t>• Cả diện tích và giá nhà đều có phân phối lệch phải (Right-skewed).</a:t>
            </a:r>
          </a:p>
          <a:p>
            <a:pPr>
              <a:spcAft>
                <a:spcPts val="400"/>
              </a:spcAft>
              <a:defRPr sz="1100">
                <a:solidFill>
                  <a:srgbClr val="64748B"/>
                </a:solidFill>
                <a:latin typeface="Arial"/>
              </a:defRPr>
            </a:pPr>
            <a:r>
              <a:rPr sz="1400"/>
              <a:t>• Phần lớn dữ liệu tập trung ở phân khúc giá và diện tích trung bình - thấp.</a:t>
            </a:r>
          </a:p>
          <a:p>
            <a:pPr>
              <a:spcAft>
                <a:spcPts val="400"/>
              </a:spcAft>
              <a:defRPr sz="1100">
                <a:solidFill>
                  <a:srgbClr val="64748B"/>
                </a:solidFill>
                <a:latin typeface="Arial"/>
              </a:defRPr>
            </a:pPr>
            <a:r>
              <a:rPr sz="1400"/>
              <a:t>• Một số ít bất động sản cao cấp có giá trị cực cao kéo dài đồ thị phân bố.</a:t>
            </a:r>
          </a:p>
        </p:txBody>
      </p:sp>
      <p:pic>
        <p:nvPicPr>
          <p:cNvPr id="9" name="Picture 8" descr="image3.png"/>
          <p:cNvPicPr>
            <a:picLocks noChangeAspect="1"/>
          </p:cNvPicPr>
          <p:nvPr/>
        </p:nvPicPr>
        <p:blipFill>
          <a:blip r:embed="rId2"/>
          <a:stretch>
            <a:fillRect/>
          </a:stretch>
        </p:blipFill>
        <p:spPr>
          <a:xfrm>
            <a:off x="6382512" y="1645920"/>
            <a:ext cx="5120640" cy="2103120"/>
          </a:xfrm>
          <a:prstGeom prst="rect">
            <a:avLst/>
          </a:prstGeom>
        </p:spPr>
      </p:pic>
      <p:pic>
        <p:nvPicPr>
          <p:cNvPr id="10" name="Picture 9" descr="image4.png"/>
          <p:cNvPicPr>
            <a:picLocks noChangeAspect="1"/>
          </p:cNvPicPr>
          <p:nvPr/>
        </p:nvPicPr>
        <p:blipFill>
          <a:blip r:embed="rId3"/>
          <a:stretch>
            <a:fillRect/>
          </a:stretch>
        </p:blipFill>
        <p:spPr>
          <a:xfrm>
            <a:off x="6382512" y="3931920"/>
            <a:ext cx="5120640" cy="21031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365760"/>
            <a:ext cx="10817352" cy="365760"/>
          </a:xfrm>
          <a:prstGeom prst="rect">
            <a:avLst/>
          </a:prstGeom>
          <a:noFill/>
        </p:spPr>
        <p:txBody>
          <a:bodyPr wrap="square">
            <a:spAutoFit/>
          </a:bodyPr>
          <a:lstStyle/>
          <a:p>
            <a:pPr>
              <a:defRPr sz="1000" b="1">
                <a:solidFill>
                  <a:srgbClr val="2563EB"/>
                </a:solidFill>
                <a:latin typeface="Arial"/>
              </a:defRPr>
            </a:pPr>
            <a:r>
              <a:t>CHƯƠNG 4. KẾT QUẢ &amp; ĐÁNH GIÁ</a:t>
            </a:r>
          </a:p>
        </p:txBody>
      </p:sp>
      <p:sp>
        <p:nvSpPr>
          <p:cNvPr id="4" name="TextBox 3"/>
          <p:cNvSpPr txBox="1"/>
          <p:nvPr/>
        </p:nvSpPr>
        <p:spPr>
          <a:xfrm>
            <a:off x="685800" y="640080"/>
            <a:ext cx="10817352" cy="731520"/>
          </a:xfrm>
          <a:prstGeom prst="rect">
            <a:avLst/>
          </a:prstGeom>
          <a:noFill/>
        </p:spPr>
        <p:txBody>
          <a:bodyPr wrap="square">
            <a:spAutoFit/>
          </a:bodyPr>
          <a:lstStyle/>
          <a:p>
            <a:pPr>
              <a:defRPr sz="2800" b="1">
                <a:solidFill>
                  <a:srgbClr val="1E293B"/>
                </a:solidFill>
                <a:latin typeface="Arial"/>
              </a:defRPr>
            </a:pPr>
            <a:r>
              <a:t>7. Khu vực có giá nhà trung bình cao nhất</a:t>
            </a:r>
          </a:p>
        </p:txBody>
      </p:sp>
      <p:sp>
        <p:nvSpPr>
          <p:cNvPr id="5" name="Rounded Rectangle 4"/>
          <p:cNvSpPr/>
          <p:nvPr/>
        </p:nvSpPr>
        <p:spPr>
          <a:xfrm>
            <a:off x="68580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868680" y="1828800"/>
            <a:ext cx="4754880" cy="2610971"/>
          </a:xfrm>
          <a:prstGeom prst="rect">
            <a:avLst/>
          </a:prstGeom>
          <a:noFill/>
        </p:spPr>
        <p:txBody>
          <a:bodyPr wrap="square">
            <a:spAutoFit/>
          </a:bodyPr>
          <a:lstStyle/>
          <a:p>
            <a:pPr>
              <a:spcAft>
                <a:spcPts val="1000"/>
              </a:spcAft>
              <a:defRPr sz="1600" b="1">
                <a:solidFill>
                  <a:srgbClr val="1E293B"/>
                </a:solidFill>
                <a:latin typeface="Arial"/>
              </a:defRPr>
            </a:pPr>
            <a:r>
              <a:t>Phân tích theo Thành phố</a:t>
            </a:r>
          </a:p>
          <a:p>
            <a:pPr>
              <a:spcAft>
                <a:spcPts val="400"/>
              </a:spcAft>
              <a:defRPr sz="1100">
                <a:solidFill>
                  <a:srgbClr val="64748B"/>
                </a:solidFill>
                <a:latin typeface="Arial"/>
              </a:defRPr>
            </a:pPr>
            <a:r>
              <a:rPr sz="1400"/>
              <a:t>• TP.HCM dẫn đầu cả nước với đơn giá trung bình: 149.1 triệu VNĐ / m².</a:t>
            </a:r>
          </a:p>
          <a:p>
            <a:pPr>
              <a:spcAft>
                <a:spcPts val="400"/>
              </a:spcAft>
              <a:defRPr sz="1100">
                <a:solidFill>
                  <a:srgbClr val="64748B"/>
                </a:solidFill>
                <a:latin typeface="Arial"/>
              </a:defRPr>
            </a:pPr>
            <a:r>
              <a:rPr sz="1400"/>
              <a:t>• Hà Nội xếp thứ hai với đơn giá trung bình: 136.5 triệu VNĐ / m².</a:t>
            </a:r>
          </a:p>
          <a:p>
            <a:pPr>
              <a:spcAft>
                <a:spcPts val="400"/>
              </a:spcAft>
              <a:defRPr sz="1100">
                <a:solidFill>
                  <a:srgbClr val="64748B"/>
                </a:solidFill>
                <a:latin typeface="Arial"/>
              </a:defRPr>
            </a:pPr>
            <a:r>
              <a:rPr sz="1400"/>
              <a:t>• Đà Nẵng xếp thứ ba (97.2 triệu/m²) nhờ thế mạnh du lịch và hạ tầng đồng bộ.</a:t>
            </a:r>
          </a:p>
          <a:p>
            <a:pPr>
              <a:spcAft>
                <a:spcPts val="400"/>
              </a:spcAft>
              <a:defRPr sz="1100">
                <a:solidFill>
                  <a:srgbClr val="64748B"/>
                </a:solidFill>
                <a:latin typeface="Arial"/>
              </a:defRPr>
            </a:pPr>
            <a:r>
              <a:rPr sz="1400"/>
              <a:t>• Cần Thơ có mức giá thấp nhất trong 5 thành phố.</a:t>
            </a:r>
          </a:p>
          <a:p>
            <a:pPr>
              <a:spcAft>
                <a:spcPts val="400"/>
              </a:spcAft>
              <a:defRPr sz="1100">
                <a:solidFill>
                  <a:srgbClr val="64748B"/>
                </a:solidFill>
                <a:latin typeface="Arial"/>
              </a:defRPr>
            </a:pPr>
            <a:r>
              <a:rPr sz="1400"/>
              <a:t>• Các quận trung tâm (Quận 1, Hoàn Kiếm, Ba Đình) có giá cao gấp 2-3 lần so với ngoại thành.</a:t>
            </a:r>
          </a:p>
        </p:txBody>
      </p:sp>
      <p:pic>
        <p:nvPicPr>
          <p:cNvPr id="7" name="Picture 6" descr="image6.png"/>
          <p:cNvPicPr>
            <a:picLocks noChangeAspect="1"/>
          </p:cNvPicPr>
          <p:nvPr/>
        </p:nvPicPr>
        <p:blipFill>
          <a:blip r:embed="rId2"/>
          <a:stretch>
            <a:fillRect/>
          </a:stretch>
        </p:blipFill>
        <p:spPr>
          <a:xfrm>
            <a:off x="6382512" y="1645920"/>
            <a:ext cx="5120640" cy="43891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365760"/>
            <a:ext cx="10817352" cy="365760"/>
          </a:xfrm>
          <a:prstGeom prst="rect">
            <a:avLst/>
          </a:prstGeom>
          <a:noFill/>
        </p:spPr>
        <p:txBody>
          <a:bodyPr wrap="square">
            <a:spAutoFit/>
          </a:bodyPr>
          <a:lstStyle/>
          <a:p>
            <a:pPr>
              <a:defRPr sz="1000" b="1">
                <a:solidFill>
                  <a:srgbClr val="2563EB"/>
                </a:solidFill>
                <a:latin typeface="Arial"/>
              </a:defRPr>
            </a:pPr>
            <a:r>
              <a:t>CHƯƠNG 4. KẾT QUẢ &amp; ĐÁNH GIÁ</a:t>
            </a:r>
          </a:p>
        </p:txBody>
      </p:sp>
      <p:sp>
        <p:nvSpPr>
          <p:cNvPr id="4" name="TextBox 3"/>
          <p:cNvSpPr txBox="1"/>
          <p:nvPr/>
        </p:nvSpPr>
        <p:spPr>
          <a:xfrm>
            <a:off x="685800" y="640080"/>
            <a:ext cx="10817352" cy="731520"/>
          </a:xfrm>
          <a:prstGeom prst="rect">
            <a:avLst/>
          </a:prstGeom>
          <a:noFill/>
        </p:spPr>
        <p:txBody>
          <a:bodyPr wrap="square">
            <a:spAutoFit/>
          </a:bodyPr>
          <a:lstStyle/>
          <a:p>
            <a:pPr>
              <a:defRPr sz="2800" b="1">
                <a:solidFill>
                  <a:srgbClr val="1E293B"/>
                </a:solidFill>
                <a:latin typeface="Arial"/>
              </a:defRPr>
            </a:pPr>
            <a:r>
              <a:t>8. Ảnh hưởng của diện tích đến giá nhà</a:t>
            </a:r>
          </a:p>
        </p:txBody>
      </p:sp>
      <p:sp>
        <p:nvSpPr>
          <p:cNvPr id="5" name="Rounded Rectangle 4"/>
          <p:cNvSpPr/>
          <p:nvPr/>
        </p:nvSpPr>
        <p:spPr>
          <a:xfrm>
            <a:off x="68580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868680" y="1828800"/>
            <a:ext cx="4754880" cy="3626634"/>
          </a:xfrm>
          <a:prstGeom prst="rect">
            <a:avLst/>
          </a:prstGeom>
          <a:noFill/>
        </p:spPr>
        <p:txBody>
          <a:bodyPr wrap="square">
            <a:spAutoFit/>
          </a:bodyPr>
          <a:lstStyle/>
          <a:p>
            <a:pPr>
              <a:spcAft>
                <a:spcPts val="1000"/>
              </a:spcAft>
              <a:defRPr sz="1600" b="1">
                <a:solidFill>
                  <a:srgbClr val="1E293B"/>
                </a:solidFill>
                <a:latin typeface="Arial"/>
              </a:defRPr>
            </a:pPr>
            <a:r>
              <a:t>Hệ số tương quan Pearson &amp; Nhận xét</a:t>
            </a:r>
          </a:p>
          <a:p>
            <a:pPr>
              <a:spcAft>
                <a:spcPts val="400"/>
              </a:spcAft>
              <a:defRPr sz="1100">
                <a:solidFill>
                  <a:srgbClr val="64748B"/>
                </a:solidFill>
                <a:latin typeface="Arial"/>
              </a:defRPr>
            </a:pPr>
            <a:r>
              <a:rPr sz="1400"/>
              <a:t>• Tương quan Diện tích &amp; Tổng giá: r = 0.6019.</a:t>
            </a:r>
          </a:p>
          <a:p>
            <a:pPr>
              <a:spcAft>
                <a:spcPts val="400"/>
              </a:spcAft>
              <a:defRPr sz="1100">
                <a:solidFill>
                  <a:srgbClr val="64748B"/>
                </a:solidFill>
                <a:latin typeface="Arial"/>
              </a:defRPr>
            </a:pPr>
            <a:r>
              <a:rPr sz="1400"/>
              <a:t>-&gt; Mối tương quan thuận mạnh mẽ: Diện tích nhà càng rộng lớn thì tổng giá bán của căn nhà càng cao.</a:t>
            </a:r>
          </a:p>
          <a:p>
            <a:pPr>
              <a:spcAft>
                <a:spcPts val="400"/>
              </a:spcAft>
              <a:defRPr sz="1100">
                <a:solidFill>
                  <a:srgbClr val="64748B"/>
                </a:solidFill>
                <a:latin typeface="Arial"/>
              </a:defRPr>
            </a:pPr>
            <a:endParaRPr sz="1400"/>
          </a:p>
          <a:p>
            <a:pPr>
              <a:spcAft>
                <a:spcPts val="400"/>
              </a:spcAft>
              <a:defRPr sz="1100">
                <a:solidFill>
                  <a:srgbClr val="64748B"/>
                </a:solidFill>
                <a:latin typeface="Arial"/>
              </a:defRPr>
            </a:pPr>
            <a:r>
              <a:rPr sz="1400"/>
              <a:t>• Tương quan Diện tích &amp; Giá trên mỗi m²: r = -0.0273.</a:t>
            </a:r>
          </a:p>
          <a:p>
            <a:pPr>
              <a:spcAft>
                <a:spcPts val="400"/>
              </a:spcAft>
              <a:defRPr sz="1100">
                <a:solidFill>
                  <a:srgbClr val="64748B"/>
                </a:solidFill>
                <a:latin typeface="Arial"/>
              </a:defRPr>
            </a:pPr>
            <a:r>
              <a:rPr sz="1400"/>
              <a:t>-&gt; Tương quan cực kỳ yếu, cho thấy giá trị đơn giá m² khá đồng đều.</a:t>
            </a:r>
          </a:p>
          <a:p>
            <a:pPr>
              <a:spcAft>
                <a:spcPts val="400"/>
              </a:spcAft>
              <a:defRPr sz="1100">
                <a:solidFill>
                  <a:srgbClr val="64748B"/>
                </a:solidFill>
                <a:latin typeface="Arial"/>
              </a:defRPr>
            </a:pPr>
            <a:endParaRPr sz="1400"/>
          </a:p>
          <a:p>
            <a:pPr>
              <a:spcAft>
                <a:spcPts val="400"/>
              </a:spcAft>
              <a:defRPr sz="1100">
                <a:solidFill>
                  <a:srgbClr val="64748B"/>
                </a:solidFill>
                <a:latin typeface="Arial"/>
              </a:defRPr>
            </a:pPr>
            <a:r>
              <a:rPr sz="1400"/>
              <a:t>• Nhận xét thực tế:</a:t>
            </a:r>
          </a:p>
          <a:p>
            <a:pPr>
              <a:spcAft>
                <a:spcPts val="400"/>
              </a:spcAft>
              <a:defRPr sz="1100">
                <a:solidFill>
                  <a:srgbClr val="64748B"/>
                </a:solidFill>
                <a:latin typeface="Arial"/>
              </a:defRPr>
            </a:pPr>
            <a:r>
              <a:rPr sz="1400"/>
              <a:t>Thị trường bất động sản Việt Nam định giá rất nhất quán theo đơn giá mét vuông. Phân khúc diện tích nhỏ (&lt; 50m²), đơn giá m² dao động mạnh phản ánh sự ảnh hưởng lấn át của vị trí.</a:t>
            </a:r>
          </a:p>
        </p:txBody>
      </p:sp>
      <p:pic>
        <p:nvPicPr>
          <p:cNvPr id="7" name="Picture 6" descr="image7.png"/>
          <p:cNvPicPr>
            <a:picLocks noChangeAspect="1"/>
          </p:cNvPicPr>
          <p:nvPr/>
        </p:nvPicPr>
        <p:blipFill>
          <a:blip r:embed="rId2"/>
          <a:stretch>
            <a:fillRect/>
          </a:stretch>
        </p:blipFill>
        <p:spPr>
          <a:xfrm>
            <a:off x="6382512" y="1645920"/>
            <a:ext cx="5120640" cy="43891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365760"/>
            <a:ext cx="10817352" cy="365760"/>
          </a:xfrm>
          <a:prstGeom prst="rect">
            <a:avLst/>
          </a:prstGeom>
          <a:noFill/>
        </p:spPr>
        <p:txBody>
          <a:bodyPr wrap="square">
            <a:spAutoFit/>
          </a:bodyPr>
          <a:lstStyle/>
          <a:p>
            <a:pPr>
              <a:defRPr sz="1000" b="1">
                <a:solidFill>
                  <a:srgbClr val="2563EB"/>
                </a:solidFill>
                <a:latin typeface="Arial"/>
              </a:defRPr>
            </a:pPr>
            <a:r>
              <a:t>CHƯƠNG 4. KẾT QUẢ &amp; ĐÁNH GIÁ</a:t>
            </a:r>
          </a:p>
        </p:txBody>
      </p:sp>
      <p:sp>
        <p:nvSpPr>
          <p:cNvPr id="4" name="TextBox 3"/>
          <p:cNvSpPr txBox="1"/>
          <p:nvPr/>
        </p:nvSpPr>
        <p:spPr>
          <a:xfrm>
            <a:off x="685800" y="640080"/>
            <a:ext cx="10817352" cy="731520"/>
          </a:xfrm>
          <a:prstGeom prst="rect">
            <a:avLst/>
          </a:prstGeom>
          <a:noFill/>
        </p:spPr>
        <p:txBody>
          <a:bodyPr wrap="square">
            <a:spAutoFit/>
          </a:bodyPr>
          <a:lstStyle/>
          <a:p>
            <a:pPr>
              <a:defRPr sz="2800" b="1">
                <a:solidFill>
                  <a:srgbClr val="1E293B"/>
                </a:solidFill>
                <a:latin typeface="Arial"/>
              </a:defRPr>
            </a:pPr>
            <a:r>
              <a:t>9. Các yếu tố ảnh hưởng &amp; So sánh HN - HCM</a:t>
            </a:r>
          </a:p>
        </p:txBody>
      </p:sp>
      <p:sp>
        <p:nvSpPr>
          <p:cNvPr id="5" name="Rounded Rectangle 4"/>
          <p:cNvSpPr/>
          <p:nvPr/>
        </p:nvSpPr>
        <p:spPr>
          <a:xfrm>
            <a:off x="68580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28800"/>
            <a:ext cx="4754880" cy="3031599"/>
          </a:xfrm>
          <a:prstGeom prst="rect">
            <a:avLst/>
          </a:prstGeom>
          <a:noFill/>
        </p:spPr>
        <p:txBody>
          <a:bodyPr wrap="square">
            <a:spAutoFit/>
          </a:bodyPr>
          <a:lstStyle/>
          <a:p>
            <a:pPr>
              <a:spcAft>
                <a:spcPts val="1000"/>
              </a:spcAft>
              <a:defRPr sz="1600" b="1">
                <a:solidFill>
                  <a:srgbClr val="1E293B"/>
                </a:solidFill>
                <a:latin typeface="Arial"/>
              </a:defRPr>
            </a:pPr>
            <a:r>
              <a:t>Kiểm định T-Test &amp; Feature Importance</a:t>
            </a:r>
          </a:p>
          <a:p>
            <a:pPr>
              <a:spcAft>
                <a:spcPts val="400"/>
              </a:spcAft>
              <a:defRPr sz="1100">
                <a:solidFill>
                  <a:srgbClr val="64748B"/>
                </a:solidFill>
                <a:latin typeface="Arial"/>
              </a:defRPr>
            </a:pPr>
            <a:r>
              <a:rPr sz="1400"/>
              <a:t>• So sánh giá nhà giữa Hà Nội và TP.HCM.</a:t>
            </a:r>
          </a:p>
          <a:p>
            <a:pPr>
              <a:spcAft>
                <a:spcPts val="400"/>
              </a:spcAft>
              <a:defRPr sz="1100">
                <a:solidFill>
                  <a:srgbClr val="64748B"/>
                </a:solidFill>
                <a:latin typeface="Arial"/>
              </a:defRPr>
            </a:pPr>
            <a:r>
              <a:rPr sz="1400"/>
              <a:t>• t-statistic: -3.8337 | p-value: 0.000132.</a:t>
            </a:r>
          </a:p>
          <a:p>
            <a:pPr>
              <a:spcAft>
                <a:spcPts val="400"/>
              </a:spcAft>
              <a:defRPr sz="1100">
                <a:solidFill>
                  <a:srgbClr val="64748B"/>
                </a:solidFill>
                <a:latin typeface="Arial"/>
              </a:defRPr>
            </a:pPr>
            <a:r>
              <a:rPr sz="1400"/>
              <a:t>• Kết luận: Có sự khác biệt có ý nghĩa thống kê rõ rệt về mặt giá nhà trung bình giữa hai thành phố.</a:t>
            </a:r>
          </a:p>
          <a:p>
            <a:pPr>
              <a:spcAft>
                <a:spcPts val="400"/>
              </a:spcAft>
              <a:defRPr sz="1100">
                <a:solidFill>
                  <a:srgbClr val="64748B"/>
                </a:solidFill>
                <a:latin typeface="Arial"/>
              </a:defRPr>
            </a:pPr>
            <a:endParaRPr sz="1400"/>
          </a:p>
          <a:p>
            <a:pPr>
              <a:spcAft>
                <a:spcPts val="400"/>
              </a:spcAft>
              <a:defRPr sz="1100">
                <a:solidFill>
                  <a:srgbClr val="64748B"/>
                </a:solidFill>
                <a:latin typeface="Arial"/>
              </a:defRPr>
            </a:pPr>
            <a:r>
              <a:rPr sz="1400"/>
              <a:t>• Xếp hạng Feature Importance:</a:t>
            </a:r>
          </a:p>
          <a:p>
            <a:pPr>
              <a:spcAft>
                <a:spcPts val="400"/>
              </a:spcAft>
              <a:defRPr sz="1100">
                <a:solidFill>
                  <a:srgbClr val="64748B"/>
                </a:solidFill>
                <a:latin typeface="Arial"/>
              </a:defRPr>
            </a:pPr>
            <a:r>
              <a:rPr sz="1400"/>
              <a:t>1. Diện tích: Tác động mạnh nhất (45.2%).</a:t>
            </a:r>
          </a:p>
          <a:p>
            <a:pPr>
              <a:spcAft>
                <a:spcPts val="400"/>
              </a:spcAft>
              <a:defRPr sz="1100">
                <a:solidFill>
                  <a:srgbClr val="64748B"/>
                </a:solidFill>
                <a:latin typeface="Arial"/>
              </a:defRPr>
            </a:pPr>
            <a:r>
              <a:rPr sz="1400"/>
              <a:t>2. Quận / Huyện (Vị trí cụ thể): (28.5%).</a:t>
            </a:r>
          </a:p>
          <a:p>
            <a:pPr>
              <a:spcAft>
                <a:spcPts val="400"/>
              </a:spcAft>
              <a:defRPr sz="1100">
                <a:solidFill>
                  <a:srgbClr val="64748B"/>
                </a:solidFill>
                <a:latin typeface="Arial"/>
              </a:defRPr>
            </a:pPr>
            <a:r>
              <a:rPr sz="1400"/>
              <a:t>3. Thành phố: Đứng thứ ba (16.1%).</a:t>
            </a:r>
          </a:p>
          <a:p>
            <a:pPr>
              <a:spcAft>
                <a:spcPts val="400"/>
              </a:spcAft>
              <a:defRPr sz="1100">
                <a:solidFill>
                  <a:srgbClr val="64748B"/>
                </a:solidFill>
                <a:latin typeface="Arial"/>
              </a:defRPr>
            </a:pPr>
            <a:r>
              <a:rPr sz="1400"/>
              <a:t>4. Số phòng ngủ/vệ sinh: Tác động nhỏ nhất (10.2%).</a:t>
            </a:r>
          </a:p>
        </p:txBody>
      </p:sp>
      <p:pic>
        <p:nvPicPr>
          <p:cNvPr id="7" name="Picture 6" descr="image9.png"/>
          <p:cNvPicPr>
            <a:picLocks noChangeAspect="1"/>
          </p:cNvPicPr>
          <p:nvPr/>
        </p:nvPicPr>
        <p:blipFill>
          <a:blip r:embed="rId2"/>
          <a:stretch>
            <a:fillRect/>
          </a:stretch>
        </p:blipFill>
        <p:spPr>
          <a:xfrm>
            <a:off x="6382512" y="1645920"/>
            <a:ext cx="5120640" cy="43891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365760"/>
            <a:ext cx="10817352" cy="365760"/>
          </a:xfrm>
          <a:prstGeom prst="rect">
            <a:avLst/>
          </a:prstGeom>
          <a:noFill/>
        </p:spPr>
        <p:txBody>
          <a:bodyPr wrap="square">
            <a:spAutoFit/>
          </a:bodyPr>
          <a:lstStyle/>
          <a:p>
            <a:pPr>
              <a:defRPr sz="1000" b="1">
                <a:solidFill>
                  <a:srgbClr val="2563EB"/>
                </a:solidFill>
                <a:latin typeface="Arial"/>
              </a:defRPr>
            </a:pPr>
            <a:r>
              <a:t>CHƯƠNG 4. KẾT QUẢ &amp; ĐÁNH GIÁ</a:t>
            </a:r>
          </a:p>
        </p:txBody>
      </p:sp>
      <p:sp>
        <p:nvSpPr>
          <p:cNvPr id="4" name="TextBox 3"/>
          <p:cNvSpPr txBox="1"/>
          <p:nvPr/>
        </p:nvSpPr>
        <p:spPr>
          <a:xfrm>
            <a:off x="685800" y="640080"/>
            <a:ext cx="10817352" cy="731520"/>
          </a:xfrm>
          <a:prstGeom prst="rect">
            <a:avLst/>
          </a:prstGeom>
          <a:noFill/>
        </p:spPr>
        <p:txBody>
          <a:bodyPr wrap="square">
            <a:spAutoFit/>
          </a:bodyPr>
          <a:lstStyle/>
          <a:p>
            <a:pPr>
              <a:defRPr sz="2800" b="1">
                <a:solidFill>
                  <a:srgbClr val="1E293B"/>
                </a:solidFill>
                <a:latin typeface="Arial"/>
              </a:defRPr>
            </a:pPr>
            <a:r>
              <a:t>10. Xây dựng mô hình &amp; Pipeline tối ưu</a:t>
            </a:r>
          </a:p>
        </p:txBody>
      </p:sp>
      <p:sp>
        <p:nvSpPr>
          <p:cNvPr id="5" name="Rounded Rectangle 4"/>
          <p:cNvSpPr/>
          <p:nvPr/>
        </p:nvSpPr>
        <p:spPr>
          <a:xfrm>
            <a:off x="68580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868680" y="1828800"/>
            <a:ext cx="4754880" cy="3308598"/>
          </a:xfrm>
          <a:prstGeom prst="rect">
            <a:avLst/>
          </a:prstGeom>
          <a:noFill/>
        </p:spPr>
        <p:txBody>
          <a:bodyPr wrap="square">
            <a:spAutoFit/>
          </a:bodyPr>
          <a:lstStyle/>
          <a:p>
            <a:pPr>
              <a:spcAft>
                <a:spcPts val="1000"/>
              </a:spcAft>
              <a:defRPr sz="1600" b="1">
                <a:solidFill>
                  <a:srgbClr val="1E293B"/>
                </a:solidFill>
                <a:latin typeface="Arial"/>
              </a:defRPr>
            </a:pPr>
            <a:r>
              <a:t>Thiết lập Pipeline Scikit-Learn</a:t>
            </a:r>
          </a:p>
          <a:p>
            <a:pPr>
              <a:spcAft>
                <a:spcPts val="400"/>
              </a:spcAft>
              <a:defRPr sz="1100">
                <a:solidFill>
                  <a:srgbClr val="64748B"/>
                </a:solidFill>
                <a:latin typeface="Arial"/>
              </a:defRPr>
            </a:pPr>
            <a:r>
              <a:rPr sz="1400"/>
              <a:t>• Đề tài sử dụng Scikit-Learn Pipeline để kết hợp các bước tiền xử lý và thuật toán huấn luyện.</a:t>
            </a:r>
          </a:p>
          <a:p>
            <a:pPr>
              <a:spcAft>
                <a:spcPts val="400"/>
              </a:spcAft>
              <a:defRPr sz="1100">
                <a:solidFill>
                  <a:srgbClr val="64748B"/>
                </a:solidFill>
                <a:latin typeface="Arial"/>
              </a:defRPr>
            </a:pPr>
            <a:r>
              <a:rPr sz="1400"/>
              <a:t>• Giúp ngăn chặn hiện tượng rò rỉ thông tin dữ liệu (Data Leakage) từ tập test sang train.</a:t>
            </a:r>
          </a:p>
          <a:p>
            <a:pPr>
              <a:spcAft>
                <a:spcPts val="400"/>
              </a:spcAft>
              <a:defRPr sz="1100">
                <a:solidFill>
                  <a:srgbClr val="64748B"/>
                </a:solidFill>
                <a:latin typeface="Arial"/>
              </a:defRPr>
            </a:pPr>
            <a:r>
              <a:rPr sz="1400"/>
              <a:t>• Dễ dàng kiểm thử song song nhiều mô hình hồi quy khác nhau.</a:t>
            </a:r>
          </a:p>
          <a:p>
            <a:pPr>
              <a:spcAft>
                <a:spcPts val="400"/>
              </a:spcAft>
              <a:defRPr sz="1100">
                <a:solidFill>
                  <a:srgbClr val="64748B"/>
                </a:solidFill>
                <a:latin typeface="Arial"/>
              </a:defRPr>
            </a:pPr>
            <a:r>
              <a:rPr sz="1400"/>
              <a:t>• Phân chia dữ liệu: Tập huấn luyện (Train) 80%, tập kiểm tra (Test) 20%.</a:t>
            </a:r>
          </a:p>
          <a:p>
            <a:pPr>
              <a:spcAft>
                <a:spcPts val="400"/>
              </a:spcAft>
              <a:defRPr sz="1100">
                <a:solidFill>
                  <a:srgbClr val="64748B"/>
                </a:solidFill>
                <a:latin typeface="Arial"/>
              </a:defRPr>
            </a:pPr>
            <a:r>
              <a:rPr sz="1400"/>
              <a:t>• Transform số: StandardScaler chuẩn hóa diện tích và số phòng ngủ.</a:t>
            </a:r>
          </a:p>
          <a:p>
            <a:pPr>
              <a:spcAft>
                <a:spcPts val="400"/>
              </a:spcAft>
              <a:defRPr sz="1100">
                <a:solidFill>
                  <a:srgbClr val="64748B"/>
                </a:solidFill>
                <a:latin typeface="Arial"/>
              </a:defRPr>
            </a:pPr>
            <a:r>
              <a:rPr sz="1400"/>
              <a:t>• Transform phân loại: OneHotEncoder mã hóa quận/huyện, thành phố, pháp lý, hướng nhà.</a:t>
            </a:r>
          </a:p>
        </p:txBody>
      </p:sp>
      <p:pic>
        <p:nvPicPr>
          <p:cNvPr id="7" name="Picture 6" descr="image10.png"/>
          <p:cNvPicPr>
            <a:picLocks noChangeAspect="1"/>
          </p:cNvPicPr>
          <p:nvPr/>
        </p:nvPicPr>
        <p:blipFill>
          <a:blip r:embed="rId2"/>
          <a:stretch>
            <a:fillRect/>
          </a:stretch>
        </p:blipFill>
        <p:spPr>
          <a:xfrm>
            <a:off x="6382512" y="1645920"/>
            <a:ext cx="5120640" cy="43891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365760"/>
            <a:ext cx="10817352" cy="365760"/>
          </a:xfrm>
          <a:prstGeom prst="rect">
            <a:avLst/>
          </a:prstGeom>
          <a:noFill/>
        </p:spPr>
        <p:txBody>
          <a:bodyPr wrap="square">
            <a:spAutoFit/>
          </a:bodyPr>
          <a:lstStyle/>
          <a:p>
            <a:pPr>
              <a:defRPr sz="1000" b="1">
                <a:solidFill>
                  <a:srgbClr val="2563EB"/>
                </a:solidFill>
                <a:latin typeface="Arial"/>
              </a:defRPr>
            </a:pPr>
            <a:r>
              <a:t>CHƯƠNG 4. KẾT QUẢ &amp; ĐÁNH GIÁ</a:t>
            </a:r>
          </a:p>
        </p:txBody>
      </p:sp>
      <p:sp>
        <p:nvSpPr>
          <p:cNvPr id="4" name="TextBox 3"/>
          <p:cNvSpPr txBox="1"/>
          <p:nvPr/>
        </p:nvSpPr>
        <p:spPr>
          <a:xfrm>
            <a:off x="685800" y="640080"/>
            <a:ext cx="10817352" cy="731520"/>
          </a:xfrm>
          <a:prstGeom prst="rect">
            <a:avLst/>
          </a:prstGeom>
          <a:noFill/>
        </p:spPr>
        <p:txBody>
          <a:bodyPr wrap="square">
            <a:spAutoFit/>
          </a:bodyPr>
          <a:lstStyle/>
          <a:p>
            <a:pPr>
              <a:defRPr sz="2800" b="1">
                <a:solidFill>
                  <a:srgbClr val="1E293B"/>
                </a:solidFill>
                <a:latin typeface="Arial"/>
              </a:defRPr>
            </a:pPr>
            <a:r>
              <a:t>11. Đánh giá &amp; So sánh hiệu suất mô hình</a:t>
            </a:r>
          </a:p>
        </p:txBody>
      </p:sp>
      <p:sp>
        <p:nvSpPr>
          <p:cNvPr id="5" name="TextBox 4"/>
          <p:cNvSpPr txBox="1"/>
          <p:nvPr/>
        </p:nvSpPr>
        <p:spPr>
          <a:xfrm>
            <a:off x="685800" y="1371600"/>
            <a:ext cx="5120640" cy="307777"/>
          </a:xfrm>
          <a:prstGeom prst="rect">
            <a:avLst/>
          </a:prstGeom>
          <a:noFill/>
        </p:spPr>
        <p:txBody>
          <a:bodyPr wrap="square">
            <a:spAutoFit/>
          </a:bodyPr>
          <a:lstStyle/>
          <a:p>
            <a:pPr>
              <a:defRPr sz="1400" b="1">
                <a:solidFill>
                  <a:srgbClr val="1E293B"/>
                </a:solidFill>
                <a:latin typeface="Arial"/>
              </a:defRPr>
            </a:pPr>
            <a:r>
              <a:t>Hiệu năng của 3 mô hình trên tập kiểm tra (Test Set):</a:t>
            </a:r>
          </a:p>
        </p:txBody>
      </p:sp>
      <p:graphicFrame>
        <p:nvGraphicFramePr>
          <p:cNvPr id="6" name="Table 5"/>
          <p:cNvGraphicFramePr>
            <a:graphicFrameLocks noGrp="1"/>
          </p:cNvGraphicFramePr>
          <p:nvPr/>
        </p:nvGraphicFramePr>
        <p:xfrm>
          <a:off x="685800" y="1828800"/>
          <a:ext cx="5120640" cy="20116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502920">
                <a:tc>
                  <a:txBody>
                    <a:bodyPr/>
                    <a:lstStyle/>
                    <a:p>
                      <a:pPr>
                        <a:defRPr sz="1000" b="1">
                          <a:solidFill>
                            <a:srgbClr val="2563EB"/>
                          </a:solidFill>
                          <a:latin typeface="Arial"/>
                        </a:defRPr>
                      </a:pPr>
                      <a:r>
                        <a:t>Mô hình</a:t>
                      </a:r>
                    </a:p>
                  </a:txBody>
                  <a:tcPr>
                    <a:solidFill>
                      <a:srgbClr val="FFFFFF"/>
                    </a:solidFill>
                  </a:tcPr>
                </a:tc>
                <a:tc>
                  <a:txBody>
                    <a:bodyPr/>
                    <a:lstStyle/>
                    <a:p>
                      <a:pPr>
                        <a:defRPr sz="1000" b="1">
                          <a:solidFill>
                            <a:srgbClr val="2563EB"/>
                          </a:solidFill>
                          <a:latin typeface="Arial"/>
                        </a:defRPr>
                      </a:pPr>
                      <a:r>
                        <a:t>R²</a:t>
                      </a:r>
                    </a:p>
                  </a:txBody>
                  <a:tcPr>
                    <a:solidFill>
                      <a:srgbClr val="FFFFFF"/>
                    </a:solidFill>
                  </a:tcPr>
                </a:tc>
                <a:tc>
                  <a:txBody>
                    <a:bodyPr/>
                    <a:lstStyle/>
                    <a:p>
                      <a:pPr>
                        <a:defRPr sz="1000" b="1">
                          <a:solidFill>
                            <a:srgbClr val="2563EB"/>
                          </a:solidFill>
                          <a:latin typeface="Arial"/>
                        </a:defRPr>
                      </a:pPr>
                      <a:r>
                        <a:t>MAE</a:t>
                      </a:r>
                    </a:p>
                  </a:txBody>
                  <a:tcPr>
                    <a:solidFill>
                      <a:srgbClr val="FFFFFF"/>
                    </a:solidFill>
                  </a:tcPr>
                </a:tc>
                <a:tc>
                  <a:txBody>
                    <a:bodyPr/>
                    <a:lstStyle/>
                    <a:p>
                      <a:pPr>
                        <a:defRPr sz="1000" b="1">
                          <a:solidFill>
                            <a:srgbClr val="2563EB"/>
                          </a:solidFill>
                          <a:latin typeface="Arial"/>
                        </a:defRPr>
                      </a:pPr>
                      <a:r>
                        <a:t>RMSE</a:t>
                      </a:r>
                    </a:p>
                  </a:txBody>
                  <a:tcPr>
                    <a:solidFill>
                      <a:srgbClr val="FFFFFF"/>
                    </a:solidFill>
                  </a:tcPr>
                </a:tc>
                <a:tc>
                  <a:txBody>
                    <a:bodyPr/>
                    <a:lstStyle/>
                    <a:p>
                      <a:pPr>
                        <a:defRPr sz="1000" b="1">
                          <a:solidFill>
                            <a:srgbClr val="2563EB"/>
                          </a:solidFill>
                          <a:latin typeface="Arial"/>
                        </a:defRPr>
                      </a:pPr>
                      <a:r>
                        <a:t>MAPE</a:t>
                      </a:r>
                    </a:p>
                  </a:txBody>
                  <a:tcPr>
                    <a:solidFill>
                      <a:srgbClr val="FFFFFF"/>
                    </a:solidFill>
                  </a:tcPr>
                </a:tc>
                <a:extLst>
                  <a:ext uri="{0D108BD9-81ED-4DB2-BD59-A6C34878D82A}">
                    <a16:rowId xmlns:a16="http://schemas.microsoft.com/office/drawing/2014/main" val="10000"/>
                  </a:ext>
                </a:extLst>
              </a:tr>
              <a:tr h="502920">
                <a:tc>
                  <a:txBody>
                    <a:bodyPr/>
                    <a:lstStyle/>
                    <a:p>
                      <a:pPr>
                        <a:defRPr sz="1000">
                          <a:solidFill>
                            <a:srgbClr val="1E293B"/>
                          </a:solidFill>
                          <a:latin typeface="Arial"/>
                        </a:defRPr>
                      </a:pPr>
                      <a:r>
                        <a:t>Linear Reg</a:t>
                      </a:r>
                    </a:p>
                  </a:txBody>
                  <a:tcPr>
                    <a:solidFill>
                      <a:srgbClr val="FFFFFF"/>
                    </a:solidFill>
                  </a:tcPr>
                </a:tc>
                <a:tc>
                  <a:txBody>
                    <a:bodyPr/>
                    <a:lstStyle/>
                    <a:p>
                      <a:pPr>
                        <a:defRPr sz="1000">
                          <a:solidFill>
                            <a:srgbClr val="1E293B"/>
                          </a:solidFill>
                          <a:latin typeface="Arial"/>
                        </a:defRPr>
                      </a:pPr>
                      <a:r>
                        <a:t>0.8421</a:t>
                      </a:r>
                    </a:p>
                  </a:txBody>
                  <a:tcPr>
                    <a:solidFill>
                      <a:srgbClr val="FFFFFF"/>
                    </a:solidFill>
                  </a:tcPr>
                </a:tc>
                <a:tc>
                  <a:txBody>
                    <a:bodyPr/>
                    <a:lstStyle/>
                    <a:p>
                      <a:pPr>
                        <a:defRPr sz="1000">
                          <a:solidFill>
                            <a:srgbClr val="1E293B"/>
                          </a:solidFill>
                          <a:latin typeface="Arial"/>
                        </a:defRPr>
                      </a:pPr>
                      <a:r>
                        <a:t>1,241</a:t>
                      </a:r>
                    </a:p>
                  </a:txBody>
                  <a:tcPr>
                    <a:solidFill>
                      <a:srgbClr val="FFFFFF"/>
                    </a:solidFill>
                  </a:tcPr>
                </a:tc>
                <a:tc>
                  <a:txBody>
                    <a:bodyPr/>
                    <a:lstStyle/>
                    <a:p>
                      <a:pPr>
                        <a:defRPr sz="1000">
                          <a:solidFill>
                            <a:srgbClr val="1E293B"/>
                          </a:solidFill>
                          <a:latin typeface="Arial"/>
                        </a:defRPr>
                      </a:pPr>
                      <a:r>
                        <a:t>2,504</a:t>
                      </a:r>
                    </a:p>
                  </a:txBody>
                  <a:tcPr>
                    <a:solidFill>
                      <a:srgbClr val="FFFFFF"/>
                    </a:solidFill>
                  </a:tcPr>
                </a:tc>
                <a:tc>
                  <a:txBody>
                    <a:bodyPr/>
                    <a:lstStyle/>
                    <a:p>
                      <a:pPr>
                        <a:defRPr sz="1000">
                          <a:solidFill>
                            <a:srgbClr val="1E293B"/>
                          </a:solidFill>
                          <a:latin typeface="Arial"/>
                        </a:defRPr>
                      </a:pPr>
                      <a:r>
                        <a:t>24.3%</a:t>
                      </a:r>
                    </a:p>
                  </a:txBody>
                  <a:tcPr>
                    <a:solidFill>
                      <a:srgbClr val="FFFFFF"/>
                    </a:solidFill>
                  </a:tcPr>
                </a:tc>
                <a:extLst>
                  <a:ext uri="{0D108BD9-81ED-4DB2-BD59-A6C34878D82A}">
                    <a16:rowId xmlns:a16="http://schemas.microsoft.com/office/drawing/2014/main" val="10001"/>
                  </a:ext>
                </a:extLst>
              </a:tr>
              <a:tr h="502920">
                <a:tc>
                  <a:txBody>
                    <a:bodyPr/>
                    <a:lstStyle/>
                    <a:p>
                      <a:pPr>
                        <a:defRPr sz="1000">
                          <a:solidFill>
                            <a:srgbClr val="1E293B"/>
                          </a:solidFill>
                          <a:latin typeface="Arial"/>
                        </a:defRPr>
                      </a:pPr>
                      <a:r>
                        <a:t>Decision Tree</a:t>
                      </a:r>
                    </a:p>
                  </a:txBody>
                  <a:tcPr>
                    <a:solidFill>
                      <a:srgbClr val="FFFFFF"/>
                    </a:solidFill>
                  </a:tcPr>
                </a:tc>
                <a:tc>
                  <a:txBody>
                    <a:bodyPr/>
                    <a:lstStyle/>
                    <a:p>
                      <a:pPr>
                        <a:defRPr sz="1000">
                          <a:solidFill>
                            <a:srgbClr val="1E293B"/>
                          </a:solidFill>
                          <a:latin typeface="Arial"/>
                        </a:defRPr>
                      </a:pPr>
                      <a:r>
                        <a:t>0.8757</a:t>
                      </a:r>
                    </a:p>
                  </a:txBody>
                  <a:tcPr>
                    <a:solidFill>
                      <a:srgbClr val="FFFFFF"/>
                    </a:solidFill>
                  </a:tcPr>
                </a:tc>
                <a:tc>
                  <a:txBody>
                    <a:bodyPr/>
                    <a:lstStyle/>
                    <a:p>
                      <a:pPr>
                        <a:defRPr sz="1000">
                          <a:solidFill>
                            <a:srgbClr val="1E293B"/>
                          </a:solidFill>
                          <a:latin typeface="Arial"/>
                        </a:defRPr>
                      </a:pPr>
                      <a:r>
                        <a:t>892</a:t>
                      </a:r>
                    </a:p>
                  </a:txBody>
                  <a:tcPr>
                    <a:solidFill>
                      <a:srgbClr val="FFFFFF"/>
                    </a:solidFill>
                  </a:tcPr>
                </a:tc>
                <a:tc>
                  <a:txBody>
                    <a:bodyPr/>
                    <a:lstStyle/>
                    <a:p>
                      <a:pPr>
                        <a:defRPr sz="1000">
                          <a:solidFill>
                            <a:srgbClr val="1E293B"/>
                          </a:solidFill>
                          <a:latin typeface="Arial"/>
                        </a:defRPr>
                      </a:pPr>
                      <a:r>
                        <a:t>1,980</a:t>
                      </a:r>
                    </a:p>
                  </a:txBody>
                  <a:tcPr>
                    <a:solidFill>
                      <a:srgbClr val="FFFFFF"/>
                    </a:solidFill>
                  </a:tcPr>
                </a:tc>
                <a:tc>
                  <a:txBody>
                    <a:bodyPr/>
                    <a:lstStyle/>
                    <a:p>
                      <a:pPr>
                        <a:defRPr sz="1000">
                          <a:solidFill>
                            <a:srgbClr val="1E293B"/>
                          </a:solidFill>
                          <a:latin typeface="Arial"/>
                        </a:defRPr>
                      </a:pPr>
                      <a:r>
                        <a:t>20.1%</a:t>
                      </a:r>
                    </a:p>
                  </a:txBody>
                  <a:tcPr>
                    <a:solidFill>
                      <a:srgbClr val="FFFFFF"/>
                    </a:solidFill>
                  </a:tcPr>
                </a:tc>
                <a:extLst>
                  <a:ext uri="{0D108BD9-81ED-4DB2-BD59-A6C34878D82A}">
                    <a16:rowId xmlns:a16="http://schemas.microsoft.com/office/drawing/2014/main" val="10002"/>
                  </a:ext>
                </a:extLst>
              </a:tr>
              <a:tr h="502920">
                <a:tc>
                  <a:txBody>
                    <a:bodyPr/>
                    <a:lstStyle/>
                    <a:p>
                      <a:pPr>
                        <a:defRPr sz="1000" b="1">
                          <a:solidFill>
                            <a:srgbClr val="7C3AED"/>
                          </a:solidFill>
                          <a:latin typeface="Arial"/>
                        </a:defRPr>
                      </a:pPr>
                      <a:r>
                        <a:t>Random Forest</a:t>
                      </a:r>
                    </a:p>
                  </a:txBody>
                  <a:tcPr>
                    <a:solidFill>
                      <a:srgbClr val="FFFFFF"/>
                    </a:solidFill>
                  </a:tcPr>
                </a:tc>
                <a:tc>
                  <a:txBody>
                    <a:bodyPr/>
                    <a:lstStyle/>
                    <a:p>
                      <a:pPr>
                        <a:defRPr sz="1000" b="1">
                          <a:solidFill>
                            <a:srgbClr val="7C3AED"/>
                          </a:solidFill>
                          <a:latin typeface="Arial"/>
                        </a:defRPr>
                      </a:pPr>
                      <a:r>
                        <a:t>0.9246</a:t>
                      </a:r>
                    </a:p>
                  </a:txBody>
                  <a:tcPr>
                    <a:solidFill>
                      <a:srgbClr val="FFFFFF"/>
                    </a:solidFill>
                  </a:tcPr>
                </a:tc>
                <a:tc>
                  <a:txBody>
                    <a:bodyPr/>
                    <a:lstStyle/>
                    <a:p>
                      <a:pPr>
                        <a:defRPr sz="1000" b="1">
                          <a:solidFill>
                            <a:srgbClr val="7C3AED"/>
                          </a:solidFill>
                          <a:latin typeface="Arial"/>
                        </a:defRPr>
                      </a:pPr>
                      <a:r>
                        <a:t>541</a:t>
                      </a:r>
                    </a:p>
                  </a:txBody>
                  <a:tcPr>
                    <a:solidFill>
                      <a:srgbClr val="FFFFFF"/>
                    </a:solidFill>
                  </a:tcPr>
                </a:tc>
                <a:tc>
                  <a:txBody>
                    <a:bodyPr/>
                    <a:lstStyle/>
                    <a:p>
                      <a:pPr>
                        <a:defRPr sz="1000" b="1">
                          <a:solidFill>
                            <a:srgbClr val="7C3AED"/>
                          </a:solidFill>
                          <a:latin typeface="Arial"/>
                        </a:defRPr>
                      </a:pPr>
                      <a:r>
                        <a:t>1,187</a:t>
                      </a:r>
                    </a:p>
                  </a:txBody>
                  <a:tcPr>
                    <a:solidFill>
                      <a:srgbClr val="FFFFFF"/>
                    </a:solidFill>
                  </a:tcPr>
                </a:tc>
                <a:tc>
                  <a:txBody>
                    <a:bodyPr/>
                    <a:lstStyle/>
                    <a:p>
                      <a:pPr>
                        <a:defRPr sz="1000" b="1">
                          <a:solidFill>
                            <a:srgbClr val="7C3AED"/>
                          </a:solidFill>
                          <a:latin typeface="Arial"/>
                        </a:defRPr>
                      </a:pPr>
                      <a:r>
                        <a:t>18.5%</a:t>
                      </a:r>
                    </a:p>
                  </a:txBody>
                  <a:tcP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85800" y="3931920"/>
            <a:ext cx="5120640" cy="1169551"/>
          </a:xfrm>
          <a:prstGeom prst="rect">
            <a:avLst/>
          </a:prstGeom>
          <a:noFill/>
        </p:spPr>
        <p:txBody>
          <a:bodyPr wrap="square">
            <a:spAutoFit/>
          </a:bodyPr>
          <a:lstStyle/>
          <a:p>
            <a:pPr>
              <a:defRPr sz="1100">
                <a:solidFill>
                  <a:srgbClr val="1E293B"/>
                </a:solidFill>
                <a:latin typeface="Arial"/>
              </a:defRPr>
            </a:pPr>
            <a:r>
              <a:rPr sz="1400"/>
              <a:t>• Random Forest đạt R² = 92.46% (tốt nhất).</a:t>
            </a:r>
            <a:br>
              <a:rPr sz="1400"/>
            </a:br>
            <a:r>
              <a:rPr sz="1400"/>
              <a:t>• Mô hình nắm bắt tốt quan hệ phi tuyến và giảm thiểu hiện tượng quá khớp nhờ cơ chế Ensemble.</a:t>
            </a:r>
            <a:br>
              <a:rPr sz="1400"/>
            </a:br>
            <a:r>
              <a:rPr sz="1400"/>
              <a:t>• Sai số dự đoán trung bình chỉ khoảng 541 triệu VNĐ trên các căn nhà có giá trung bình hàng chục tỷ.</a:t>
            </a:r>
          </a:p>
        </p:txBody>
      </p:sp>
      <p:pic>
        <p:nvPicPr>
          <p:cNvPr id="8" name="Picture 7" descr="image13.png"/>
          <p:cNvPicPr>
            <a:picLocks noChangeAspect="1"/>
          </p:cNvPicPr>
          <p:nvPr/>
        </p:nvPicPr>
        <p:blipFill>
          <a:blip r:embed="rId2"/>
          <a:stretch>
            <a:fillRect/>
          </a:stretch>
        </p:blipFill>
        <p:spPr>
          <a:xfrm>
            <a:off x="5737614" y="1374831"/>
            <a:ext cx="6385560" cy="547333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365760"/>
            <a:ext cx="10817352" cy="246221"/>
          </a:xfrm>
          <a:prstGeom prst="rect">
            <a:avLst/>
          </a:prstGeom>
          <a:noFill/>
        </p:spPr>
        <p:txBody>
          <a:bodyPr wrap="square">
            <a:spAutoFit/>
          </a:bodyPr>
          <a:lstStyle/>
          <a:p>
            <a:pPr>
              <a:defRPr sz="1000" b="1">
                <a:solidFill>
                  <a:srgbClr val="2563EB"/>
                </a:solidFill>
                <a:latin typeface="Arial"/>
              </a:defRPr>
            </a:pPr>
            <a:r>
              <a:rPr dirty="0"/>
              <a:t>CHƯƠNG 5. KẾT LUẬN &amp; </a:t>
            </a:r>
            <a:r>
              <a:rPr lang="vi-VN" dirty="0"/>
              <a:t>HƯỚNG PHÁT TRIỂN</a:t>
            </a:r>
            <a:endParaRPr dirty="0"/>
          </a:p>
        </p:txBody>
      </p:sp>
      <p:sp>
        <p:nvSpPr>
          <p:cNvPr id="4" name="TextBox 3"/>
          <p:cNvSpPr txBox="1"/>
          <p:nvPr/>
        </p:nvSpPr>
        <p:spPr>
          <a:xfrm>
            <a:off x="685800" y="640080"/>
            <a:ext cx="10817352" cy="731520"/>
          </a:xfrm>
          <a:prstGeom prst="rect">
            <a:avLst/>
          </a:prstGeom>
          <a:noFill/>
        </p:spPr>
        <p:txBody>
          <a:bodyPr wrap="square">
            <a:spAutoFit/>
          </a:bodyPr>
          <a:lstStyle/>
          <a:p>
            <a:pPr>
              <a:defRPr sz="2800" b="1">
                <a:solidFill>
                  <a:srgbClr val="1E293B"/>
                </a:solidFill>
                <a:latin typeface="Arial"/>
              </a:defRPr>
            </a:pPr>
            <a:r>
              <a:rPr dirty="0"/>
              <a:t>12. </a:t>
            </a:r>
            <a:r>
              <a:rPr dirty="0" err="1"/>
              <a:t>Kết</a:t>
            </a:r>
            <a:r>
              <a:rPr dirty="0"/>
              <a:t> </a:t>
            </a:r>
            <a:r>
              <a:rPr dirty="0" err="1"/>
              <a:t>luận</a:t>
            </a:r>
            <a:r>
              <a:rPr dirty="0"/>
              <a:t> &amp; </a:t>
            </a:r>
            <a:r>
              <a:rPr dirty="0" err="1"/>
              <a:t>Hướng</a:t>
            </a:r>
            <a:r>
              <a:rPr dirty="0"/>
              <a:t> </a:t>
            </a:r>
            <a:r>
              <a:rPr dirty="0" err="1"/>
              <a:t>phát</a:t>
            </a:r>
            <a:r>
              <a:rPr dirty="0"/>
              <a:t> </a:t>
            </a:r>
            <a:r>
              <a:rPr dirty="0" err="1"/>
              <a:t>triển</a:t>
            </a:r>
            <a:endParaRPr dirty="0"/>
          </a:p>
        </p:txBody>
      </p:sp>
      <p:sp>
        <p:nvSpPr>
          <p:cNvPr id="5" name="Rounded Rectangle 4"/>
          <p:cNvSpPr/>
          <p:nvPr/>
        </p:nvSpPr>
        <p:spPr>
          <a:xfrm>
            <a:off x="180136" y="1280160"/>
            <a:ext cx="512064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363016" y="1463040"/>
            <a:ext cx="4754880" cy="1862048"/>
          </a:xfrm>
          <a:prstGeom prst="rect">
            <a:avLst/>
          </a:prstGeom>
          <a:noFill/>
        </p:spPr>
        <p:txBody>
          <a:bodyPr wrap="square">
            <a:spAutoFit/>
          </a:bodyPr>
          <a:lstStyle/>
          <a:p>
            <a:pPr>
              <a:spcAft>
                <a:spcPts val="1000"/>
              </a:spcAft>
              <a:defRPr sz="1600" b="1">
                <a:solidFill>
                  <a:srgbClr val="1E293B"/>
                </a:solidFill>
                <a:latin typeface="Arial"/>
              </a:defRPr>
            </a:pPr>
            <a:r>
              <a:t>Kết quả đạt được</a:t>
            </a:r>
          </a:p>
          <a:p>
            <a:pPr>
              <a:spcAft>
                <a:spcPts val="400"/>
              </a:spcAft>
              <a:defRPr sz="1100">
                <a:solidFill>
                  <a:srgbClr val="64748B"/>
                </a:solidFill>
                <a:latin typeface="Arial"/>
              </a:defRPr>
            </a:pPr>
            <a:r>
              <a:rPr sz="1400"/>
              <a:t>• Xác định rõ các thuộc tính then chốt quyết định giá nhà tại Việt Nam (Diện tích, Vị trí).</a:t>
            </a:r>
          </a:p>
          <a:p>
            <a:pPr>
              <a:spcAft>
                <a:spcPts val="400"/>
              </a:spcAft>
              <a:defRPr sz="1100">
                <a:solidFill>
                  <a:srgbClr val="64748B"/>
                </a:solidFill>
                <a:latin typeface="Arial"/>
              </a:defRPr>
            </a:pPr>
            <a:r>
              <a:rPr sz="1400"/>
              <a:t>• Xây dựng quy trình xử lý dữ liệu và huấn luyện mô hình chuẩn hóa, hiệu suất cao.</a:t>
            </a:r>
          </a:p>
          <a:p>
            <a:pPr>
              <a:spcAft>
                <a:spcPts val="400"/>
              </a:spcAft>
              <a:defRPr sz="1100">
                <a:solidFill>
                  <a:srgbClr val="64748B"/>
                </a:solidFill>
                <a:latin typeface="Arial"/>
              </a:defRPr>
            </a:pPr>
            <a:r>
              <a:rPr sz="1400"/>
              <a:t>• Mô hình Random Forest hoạt động ổn định và chính xác cao nhất (R² = 92.46%).</a:t>
            </a:r>
          </a:p>
        </p:txBody>
      </p:sp>
      <p:sp>
        <p:nvSpPr>
          <p:cNvPr id="7" name="Rounded Rectangle 6"/>
          <p:cNvSpPr/>
          <p:nvPr/>
        </p:nvSpPr>
        <p:spPr>
          <a:xfrm>
            <a:off x="180136" y="347472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363016" y="3657600"/>
            <a:ext cx="4754880" cy="1810752"/>
          </a:xfrm>
          <a:prstGeom prst="rect">
            <a:avLst/>
          </a:prstGeom>
          <a:noFill/>
        </p:spPr>
        <p:txBody>
          <a:bodyPr wrap="square">
            <a:spAutoFit/>
          </a:bodyPr>
          <a:lstStyle/>
          <a:p>
            <a:pPr>
              <a:spcAft>
                <a:spcPts val="1000"/>
              </a:spcAft>
              <a:defRPr sz="1600" b="1">
                <a:solidFill>
                  <a:srgbClr val="1E293B"/>
                </a:solidFill>
                <a:latin typeface="Arial"/>
              </a:defRPr>
            </a:pPr>
            <a:r>
              <a:t>Hạn chế &amp; Hướng phát triển</a:t>
            </a:r>
          </a:p>
          <a:p>
            <a:pPr>
              <a:spcAft>
                <a:spcPts val="400"/>
              </a:spcAft>
              <a:defRPr sz="1100">
                <a:solidFill>
                  <a:srgbClr val="64748B"/>
                </a:solidFill>
                <a:latin typeface="Arial"/>
              </a:defRPr>
            </a:pPr>
            <a:r>
              <a:rPr sz="1400"/>
              <a:t>• Hạn chế: Nguồn dữ liệu chủ yếu từ các nền tảng trực tuyến, chưa có các biến số kinh tế vĩ mô như lạm phát, lãi suất.</a:t>
            </a:r>
          </a:p>
          <a:p>
            <a:pPr>
              <a:spcAft>
                <a:spcPts val="400"/>
              </a:spcAft>
              <a:defRPr sz="1100">
                <a:solidFill>
                  <a:srgbClr val="64748B"/>
                </a:solidFill>
                <a:latin typeface="Arial"/>
              </a:defRPr>
            </a:pPr>
            <a:r>
              <a:rPr sz="1400"/>
              <a:t>• Phát triển: Mở rộng bộ dữ liệu thực tế, tích hợp mô hình Deep Learning nâng cao, phát triển thành ứng dụng web tra cứu định giá bất động sản theo thời gian thực.</a:t>
            </a:r>
          </a:p>
        </p:txBody>
      </p:sp>
      <p:pic>
        <p:nvPicPr>
          <p:cNvPr id="9" name="Picture 8" descr="image14.png"/>
          <p:cNvPicPr>
            <a:picLocks noChangeAspect="1"/>
          </p:cNvPicPr>
          <p:nvPr/>
        </p:nvPicPr>
        <p:blipFill>
          <a:blip r:embed="rId2"/>
          <a:stretch>
            <a:fillRect/>
          </a:stretch>
        </p:blipFill>
        <p:spPr>
          <a:xfrm>
            <a:off x="5483656" y="1280161"/>
            <a:ext cx="6708344" cy="3753956"/>
          </a:xfrm>
          <a:prstGeom prst="rect">
            <a:avLst/>
          </a:prstGeom>
        </p:spPr>
      </p:pic>
    </p:spTree>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Pretty Aesthetic Notes for School</Template>
  <TotalTime>11</TotalTime>
  <Words>1771</Words>
  <Application>Microsoft Office PowerPoint</Application>
  <PresentationFormat>Widescreen</PresentationFormat>
  <Paragraphs>144</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Tw Cen MT</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Phạm Linh</cp:lastModifiedBy>
  <cp:revision>3</cp:revision>
  <dcterms:created xsi:type="dcterms:W3CDTF">2013-01-27T09:14:16Z</dcterms:created>
  <dcterms:modified xsi:type="dcterms:W3CDTF">2026-06-18T14:51:03Z</dcterms:modified>
  <cp:category/>
</cp:coreProperties>
</file>